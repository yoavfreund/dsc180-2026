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69"/>
  </p:normalViewPr>
  <p:slideViewPr>
    <p:cSldViewPr snapToGrid="0" snapToObjects="1">
      <p:cViewPr varScale="1">
        <p:scale>
          <a:sx n="114" d="100"/>
          <a:sy n="114" d="100"/>
        </p:scale>
        <p:origin x="456"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4581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I'm covering Section 2 of Freund and Schapire's 1999 paper: the classic perceptron, and their voted perceptron. I'll walk through both with one running example about horse racing.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running example. We want to predict whether a horse wins from two features, its age and its weight. For the sake of the argument, pretend each horse's result is independent, even though only one horse can win a real race, and pretend age and weight really matter. We have six past horses: three won and three lost. One detail: the paper's perceptron has no intercept, so we measure every horse relative to the average horse, 5 years old and 1,000 lbs. So Iron Duke, 7 years and 900 lbs, becomes x = (2, -1). Looking at the plot, the winners are the younger, lighter horses, and the perceptron has to discover that.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perceptron looks at one horse at a time. It guesses using the sign of v dot x: positive means win, negative means lose. Then it checks against what actually happened, with y equal to +1 for a win and -1 for a loss. If the guess was right, nothing changes. If it was wrong, it updates v by adding the horse's x if the horse won, or subtracting it if the horse lost. v is just two numbers, one per feature. A negative number means smaller is better: a negative age weight means younger horses are favored.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whole run. We start with v = (0, 0), so the first score is a tie at zero, which counts as a mistake. Iron Duke lost, so we subtract his x, and v becomes (-2, 1): younger wins, heavier helps. That rule gets the next three horses right, so nothing changes. Featherweight scores -2, a predicted loss, but she won, so we add her x, and v becomes (-2, -1): younger and lighter win. Swift Kid is right. In pass 2 we check all six horses again with v = (-2, -1). All six are right, so the algorithm stops. Two mistakes total.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run as pictures. Blue shading is where the current rule predicts a win, and v always points into the win side. At the start there's no rule, so Iron Duke is a tie and counts as a mistake. Subtracting him gives the middle picture: the line now favors young horses, but it thinks heavier is better, so Featherweight, a light winner, lands on the losing side. Adding her rotates the line to the right picture, where every winner is on the blue side. The line only ever moves when a horse is on the wrong side.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the perceptron walks through the horses one at a time, in order, all the way to the last one, then starts another pass, and stops after a pass with no mistakes. Pros: a few lines of code, each step is one dot product, and it can learn as new races come in, with nothing to tune. Cons: it only finishes if some line separates winners from losers. If they're mixed close together, it can take many passes. And it keeps only the last v, with no margin, which is exactly what the voted perceptron changes.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Theorem 1 from the paper, by Block and Novikoff. The previous slide said the perceptron only finishes if a separating line exists. This says that when one does, the number of mistakes is capped at R over gamma, squared. R is the size of the biggest data point, gamma is the margin, the gap between the separating line and the closest point. The proof tracks two things after each mistake. One: v lines up with the true separator u by at least gamma per mistake, so after k mistakes v dot u is at least k gamma. Two: the length of v grows slowly, at most R squared per mistake in squared length, because on a mistake the middle term is never positive. So the length is at most root k times R. Alignment can't exceed length, so k gamma is at most root k R, which gives k at most R over gamma squared. Notice the dimension never appears, which is why kernels into huge feature spaces are safe.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transition. In our horse run, the perceptron made three versions of v, but the classic recipe keeps only the last one and throws the others away. Freund and Schapire's idea is small: train exactly the same way, but keep every version, remember how long each one lasted, and let them all vote.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Freund and Schapire open their AdaBoost paper with a gambler betting on horse races using advice from experts. Here is a version of that idea for this paper. You follow a tipster. Every time the current tipster makes a wrong call, you retire them and hire a new one who is the old one plus a small correction. That is exactly v becomes v plus y x. Tipster 1 was right twice and then wrong. Tipster 2 was right 12 times in a row. Tipster 3 is the newest and has been right 3 times so far. The classic perceptron only listens to the newest tipster. The voted perceptron says everyone gets to bet, and each vote counts as many times as that tipster's streak.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picture as the tipsters, now in perceptron terms. Training produced three versions of v. v1 lasted 2 steps before a mistake replaced it, v2 lasted 12, and v3 is the newest and has lasted 3 so far. Each version's lifetime becomes its number of votes. A new horse comes in. v1 says win, v2 says lose, v3 says win. Weighted: plus 2, minus 12, plus 3, for a total of minus 7, so the voted perceptron predicts lose. The classic perceptron would only ask v3 and say win. The version with the long track record outvotes the newest one.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Figure 1 of the paper, written as code. Training is the normal perceptron loop with one added line: when a mistake happens, save the current v and how long it lasted before replacing it. Prediction asks every saved version for plus or minus one, multiplies by its count, and takes the sign of the total. That's the whole algorithm.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the voted perceptron: it trains exactly like the perceptron, one horse at a time, but saves every version of v with its lifetime, and predicts with a weighted vote. Pros: it uses all the versions, not just the newest one, so one unlucky update can't swing the answer, and it does well even after a single pass. Most importantly, in the paper's tables it beats the last-vector perceptron, which the next slide shows. Cons: it has to store every version, prediction has to ask every version, and on the paper's digit benchmark it is still a little less accurate than an SVM.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Table 3 straight from the paper: ten yes-or-no problems, one per handwritten digit, with a degree-4 polynomial kernel. Every number is test error in percent, so lower is better. Compare the blue Vote rows with the orange Last rows, which is the classic perceptron. After a tenth of an epoch, voting is lower on every digit; on digit 5 it halves the error, 1.4 versus 2.8. After one full pass, voting is lower on nine digits and tied on digit 6.</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my implementation I wanted a real dataset that is close to linearly separable but not perfectly, since that is where the paper says voting should help. The Breast Cancer Wisconsin Diagnostic dataset fits. It was collected at the University of Wisconsin in the 1990s: each row is one breast mass, sampled with a fine needle, imaged under a microscope, and described by 30 measurements of the cell nuclei, like radius, texture, and smoothness. 212 of the 569 tumors are malignant. My questions were the paper's questions: does voting beat the last vector here too, how close does it get to an SVM, and what does it cost in time. Setup: malignant is +1 and benign is -1, features are standardized, 80/20 train/test split, linear kernel, one and three passes, and every number is averaged over 50 runs.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implemented the voted perceptron and ran it on the Kaggle Breast Cancer Wisconsin dataset: 569 tumors, 30 features, an 80/20 train/test split, averaged over 50 runs. Error is the percent of test tumors labeled wrong, so 3.95 percent is about 96 percent accurate, or 4 to 5 tumors out of 114. The voted perceptron beats the last vector at one pass, 3.95 versus 4.84, and a sign test across the 50 runs makes that significant, p = 0.017. It ties the SVM. On speed, voting costs nothing extra: Vote and Last both take 0.3 microseconds per tumor. The kernel-evaluation column is the machine-independent cost: 27 for the perceptron versus 34 support vectors for the SVM. Times are from my laptop.</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weight members by performance, each version's vote counts as long as it lasted. Two: the voted perceptron learns one point at a time, so it handles streaming data, while a standard SVM retrains on everything. Three: ensembles of weak learners help, voting beat the last version, 3.95 versus 4.84 percent on breast cancer.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
        <p:cNvGrpSpPr/>
        <p:nvPr/>
      </p:nvGrpSpPr>
      <p:grpSpPr>
        <a:xfrm>
          <a:off x="0" y="0"/>
          <a:ext cx="0" cy="0"/>
          <a:chOff x="0" y="0"/>
          <a:chExt cx="0" cy="0"/>
        </a:xfrm>
      </p:grpSpPr>
      <p:sp>
        <p:nvSpPr>
          <p:cNvPr id="2" name="TextBox 1"/>
          <p:cNvSpPr txBox="1"/>
          <p:nvPr/>
        </p:nvSpPr>
        <p:spPr>
          <a:xfrm>
            <a:off x="822960" y="1463040"/>
            <a:ext cx="10515600" cy="365760"/>
          </a:xfrm>
          <a:prstGeom prst="rect">
            <a:avLst/>
          </a:prstGeom>
          <a:noFill/>
        </p:spPr>
        <p:txBody>
          <a:bodyPr wrap="square" lIns="0" tIns="0" rIns="0" bIns="0" anchor="t">
            <a:spAutoFit/>
          </a:bodyPr>
          <a:lstStyle/>
          <a:p>
            <a:pPr algn="l"/>
            <a:r>
              <a:rPr sz="1400" b="1" i="0">
                <a:solidFill>
                  <a:srgbClr val="F2B48C"/>
                </a:solidFill>
                <a:latin typeface="Arial"/>
              </a:rPr>
              <a:t>DSC 180A  ·  PAPER PRESENTATION</a:t>
            </a:r>
          </a:p>
        </p:txBody>
      </p:sp>
      <p:sp>
        <p:nvSpPr>
          <p:cNvPr id="3" name="TextBox 2"/>
          <p:cNvSpPr txBox="1"/>
          <p:nvPr/>
        </p:nvSpPr>
        <p:spPr>
          <a:xfrm>
            <a:off x="822960" y="2011680"/>
            <a:ext cx="10515600" cy="1828800"/>
          </a:xfrm>
          <a:prstGeom prst="rect">
            <a:avLst/>
          </a:prstGeom>
          <a:noFill/>
        </p:spPr>
        <p:txBody>
          <a:bodyPr wrap="square" lIns="0" tIns="0" rIns="0" bIns="0" anchor="t">
            <a:spAutoFit/>
          </a:bodyPr>
          <a:lstStyle/>
          <a:p>
            <a:pPr algn="l"/>
            <a:r>
              <a:rPr sz="4000" b="1" i="0">
                <a:solidFill>
                  <a:srgbClr val="FFFFFF"/>
                </a:solidFill>
                <a:latin typeface="Arial"/>
              </a:rPr>
              <a:t>Large Margin Classification Using the Perceptron Algorithm</a:t>
            </a:r>
          </a:p>
        </p:txBody>
      </p:sp>
      <p:sp>
        <p:nvSpPr>
          <p:cNvPr id="4" name="TextBox 3"/>
          <p:cNvSpPr txBox="1"/>
          <p:nvPr/>
        </p:nvSpPr>
        <p:spPr>
          <a:xfrm>
            <a:off x="822960" y="3931920"/>
            <a:ext cx="10515600" cy="457200"/>
          </a:xfrm>
          <a:prstGeom prst="rect">
            <a:avLst/>
          </a:prstGeom>
          <a:noFill/>
        </p:spPr>
        <p:txBody>
          <a:bodyPr wrap="square" lIns="0" tIns="0" rIns="0" bIns="0" anchor="t">
            <a:spAutoFit/>
          </a:bodyPr>
          <a:lstStyle/>
          <a:p>
            <a:pPr algn="l"/>
            <a:r>
              <a:rPr sz="2000" b="0" i="0">
                <a:solidFill>
                  <a:srgbClr val="C9D1D9"/>
                </a:solidFill>
                <a:latin typeface="Arial"/>
              </a:rPr>
              <a:t>Yoav Freund &amp; Robert E. Schapire  ·  Machine Learning, 1999</a:t>
            </a:r>
          </a:p>
        </p:txBody>
      </p:sp>
      <p:sp>
        <p:nvSpPr>
          <p:cNvPr id="5" name="TextBox 4"/>
          <p:cNvSpPr txBox="1"/>
          <p:nvPr/>
        </p:nvSpPr>
        <p:spPr>
          <a:xfrm>
            <a:off x="822960" y="5120640"/>
            <a:ext cx="10515600" cy="457200"/>
          </a:xfrm>
          <a:prstGeom prst="rect">
            <a:avLst/>
          </a:prstGeom>
          <a:noFill/>
        </p:spPr>
        <p:txBody>
          <a:bodyPr wrap="square" lIns="0" tIns="0" rIns="0" bIns="0" anchor="t">
            <a:spAutoFit/>
          </a:bodyPr>
          <a:lstStyle/>
          <a:p>
            <a:pPr algn="l"/>
            <a:r>
              <a:rPr sz="1800" b="0" i="0">
                <a:solidFill>
                  <a:srgbClr val="FFFFFF"/>
                </a:solidFill>
                <a:latin typeface="Arial"/>
              </a:rPr>
              <a:t>Section 2: the perceptron and the voted perceptron</a:t>
            </a:r>
          </a:p>
        </p:txBody>
      </p:sp>
      <p:sp>
        <p:nvSpPr>
          <p:cNvPr id="6" name="TextBox 5"/>
          <p:cNvSpPr txBox="1"/>
          <p:nvPr/>
        </p:nvSpPr>
        <p:spPr>
          <a:xfrm>
            <a:off x="822960" y="5577840"/>
            <a:ext cx="10515600" cy="457200"/>
          </a:xfrm>
          <a:prstGeom prst="rect">
            <a:avLst/>
          </a:prstGeom>
          <a:noFill/>
        </p:spPr>
        <p:txBody>
          <a:bodyPr wrap="square" lIns="0" tIns="0" rIns="0" bIns="0" anchor="t">
            <a:spAutoFit/>
          </a:bodyPr>
          <a:lstStyle/>
          <a:p>
            <a:pPr algn="l"/>
            <a:r>
              <a:rPr sz="1600" b="0" i="0">
                <a:solidFill>
                  <a:srgbClr val="C9D1D9"/>
                </a:solidFill>
                <a:latin typeface="Arial"/>
              </a:rPr>
              <a:t>Presented by Andrew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RUNNING EXAMPLE</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Will this horse win?</a:t>
            </a:r>
          </a:p>
        </p:txBody>
      </p:sp>
      <p:graphicFrame>
        <p:nvGraphicFramePr>
          <p:cNvPr id="4" name="Table 3"/>
          <p:cNvGraphicFramePr>
            <a:graphicFrameLocks noGrp="1"/>
          </p:cNvGraphicFramePr>
          <p:nvPr/>
        </p:nvGraphicFramePr>
        <p:xfrm>
          <a:off x="548640" y="1691640"/>
          <a:ext cx="5943599" cy="2944368"/>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420624">
                <a:tc>
                  <a:txBody>
                    <a:bodyPr/>
                    <a:lstStyle/>
                    <a:p>
                      <a:pPr algn="ctr"/>
                      <a:r>
                        <a:rPr sz="1500" b="1">
                          <a:solidFill>
                            <a:srgbClr val="1F2933"/>
                          </a:solidFill>
                          <a:latin typeface="Arial"/>
                        </a:rPr>
                        <a:t>#</a:t>
                      </a:r>
                    </a:p>
                  </a:txBody>
                  <a:tcPr marL="64008" marR="64008" anchor="ctr">
                    <a:solidFill>
                      <a:srgbClr val="F2F4F6"/>
                    </a:solidFill>
                  </a:tcPr>
                </a:tc>
                <a:tc>
                  <a:txBody>
                    <a:bodyPr/>
                    <a:lstStyle/>
                    <a:p>
                      <a:pPr algn="l"/>
                      <a:r>
                        <a:rPr sz="1500" b="1">
                          <a:solidFill>
                            <a:srgbClr val="1F2933"/>
                          </a:solidFill>
                          <a:latin typeface="Arial"/>
                        </a:rPr>
                        <a:t>Horse</a:t>
                      </a:r>
                    </a:p>
                  </a:txBody>
                  <a:tcPr marL="64008" marR="64008" anchor="ctr">
                    <a:solidFill>
                      <a:srgbClr val="F2F4F6"/>
                    </a:solidFill>
                  </a:tcPr>
                </a:tc>
                <a:tc>
                  <a:txBody>
                    <a:bodyPr/>
                    <a:lstStyle/>
                    <a:p>
                      <a:pPr algn="ctr"/>
                      <a:r>
                        <a:rPr sz="1500" b="1">
                          <a:solidFill>
                            <a:srgbClr val="1F2933"/>
                          </a:solidFill>
                          <a:latin typeface="Arial"/>
                        </a:rPr>
                        <a:t>Age</a:t>
                      </a:r>
                    </a:p>
                  </a:txBody>
                  <a:tcPr marL="64008" marR="64008" anchor="ctr">
                    <a:solidFill>
                      <a:srgbClr val="F2F4F6"/>
                    </a:solidFill>
                  </a:tcPr>
                </a:tc>
                <a:tc>
                  <a:txBody>
                    <a:bodyPr/>
                    <a:lstStyle/>
                    <a:p>
                      <a:pPr algn="ctr"/>
                      <a:r>
                        <a:rPr sz="1500" b="1">
                          <a:solidFill>
                            <a:srgbClr val="1F2933"/>
                          </a:solidFill>
                          <a:latin typeface="Arial"/>
                        </a:rPr>
                        <a:t>Weight</a:t>
                      </a:r>
                    </a:p>
                  </a:txBody>
                  <a:tcPr marL="64008" marR="64008" anchor="ctr">
                    <a:solidFill>
                      <a:srgbClr val="F2F4F6"/>
                    </a:solidFill>
                  </a:tcPr>
                </a:tc>
                <a:tc>
                  <a:txBody>
                    <a:bodyPr/>
                    <a:lstStyle/>
                    <a:p>
                      <a:pPr algn="ctr"/>
                      <a:r>
                        <a:rPr sz="1500" b="1">
                          <a:solidFill>
                            <a:srgbClr val="1F2933"/>
                          </a:solidFill>
                          <a:latin typeface="Arial"/>
                        </a:rPr>
                        <a:t>Result</a:t>
                      </a:r>
                    </a:p>
                  </a:txBody>
                  <a:tcPr marL="64008" marR="64008" anchor="ctr">
                    <a:solidFill>
                      <a:srgbClr val="F2F4F6"/>
                    </a:solidFill>
                  </a:tcPr>
                </a:tc>
                <a:tc>
                  <a:txBody>
                    <a:bodyPr/>
                    <a:lstStyle/>
                    <a:p>
                      <a:pPr algn="ctr"/>
                      <a:r>
                        <a:rPr sz="1500" b="1">
                          <a:solidFill>
                            <a:srgbClr val="1F2933"/>
                          </a:solidFill>
                          <a:latin typeface="Arial"/>
                        </a:rPr>
                        <a:t>x</a:t>
                      </a:r>
                    </a:p>
                  </a:txBody>
                  <a:tcPr marL="64008" marR="64008" anchor="ctr">
                    <a:solidFill>
                      <a:srgbClr val="F2F4F6"/>
                    </a:solidFill>
                  </a:tcPr>
                </a:tc>
                <a:extLst>
                  <a:ext uri="{0D108BD9-81ED-4DB2-BD59-A6C34878D82A}">
                    <a16:rowId xmlns:a16="http://schemas.microsoft.com/office/drawing/2014/main" val="10000"/>
                  </a:ext>
                </a:extLst>
              </a:tr>
              <a:tr h="420624">
                <a:tc>
                  <a:txBody>
                    <a:bodyPr/>
                    <a:lstStyle/>
                    <a:p>
                      <a:pPr algn="ctr"/>
                      <a:r>
                        <a:rPr sz="1500" b="0">
                          <a:solidFill>
                            <a:srgbClr val="1F2933"/>
                          </a:solidFill>
                          <a:latin typeface="Arial"/>
                        </a:rPr>
                        <a:t>1</a:t>
                      </a:r>
                    </a:p>
                  </a:txBody>
                  <a:tcPr marL="64008" marR="64008" anchor="ctr">
                    <a:solidFill>
                      <a:srgbClr val="FFFFFF"/>
                    </a:solidFill>
                  </a:tcPr>
                </a:tc>
                <a:tc>
                  <a:txBody>
                    <a:bodyPr/>
                    <a:lstStyle/>
                    <a:p>
                      <a:pPr algn="l"/>
                      <a:r>
                        <a:rPr sz="1500" b="0">
                          <a:solidFill>
                            <a:srgbClr val="1F2933"/>
                          </a:solidFill>
                          <a:latin typeface="Arial"/>
                        </a:rPr>
                        <a:t>Iron Duke</a:t>
                      </a:r>
                    </a:p>
                  </a:txBody>
                  <a:tcPr marL="64008" marR="64008" anchor="ctr">
                    <a:solidFill>
                      <a:srgbClr val="FFFFFF"/>
                    </a:solidFill>
                  </a:tcPr>
                </a:tc>
                <a:tc>
                  <a:txBody>
                    <a:bodyPr/>
                    <a:lstStyle/>
                    <a:p>
                      <a:pPr algn="ctr"/>
                      <a:r>
                        <a:rPr sz="1500" b="0">
                          <a:solidFill>
                            <a:srgbClr val="1F2933"/>
                          </a:solidFill>
                          <a:latin typeface="Arial"/>
                        </a:rPr>
                        <a:t>7</a:t>
                      </a:r>
                    </a:p>
                  </a:txBody>
                  <a:tcPr marL="64008" marR="64008" anchor="ctr">
                    <a:solidFill>
                      <a:srgbClr val="FFFFFF"/>
                    </a:solidFill>
                  </a:tcPr>
                </a:tc>
                <a:tc>
                  <a:txBody>
                    <a:bodyPr/>
                    <a:lstStyle/>
                    <a:p>
                      <a:pPr algn="ctr"/>
                      <a:r>
                        <a:rPr sz="1500" b="0">
                          <a:solidFill>
                            <a:srgbClr val="1F2933"/>
                          </a:solidFill>
                          <a:latin typeface="Arial"/>
                        </a:rPr>
                        <a:t>900</a:t>
                      </a:r>
                    </a:p>
                  </a:txBody>
                  <a:tcPr marL="64008" marR="64008" anchor="ctr">
                    <a:solidFill>
                      <a:srgbClr val="FFFFFF"/>
                    </a:solidFill>
                  </a:tcPr>
                </a:tc>
                <a:tc>
                  <a:txBody>
                    <a:bodyPr/>
                    <a:lstStyle/>
                    <a:p>
                      <a:pPr algn="ctr"/>
                      <a:r>
                        <a:rPr sz="1500" b="0">
                          <a:solidFill>
                            <a:srgbClr val="1F2933"/>
                          </a:solidFill>
                          <a:latin typeface="Arial"/>
                        </a:rPr>
                        <a:t>Lost</a:t>
                      </a:r>
                    </a:p>
                  </a:txBody>
                  <a:tcPr marL="64008" marR="64008" anchor="ctr">
                    <a:solidFill>
                      <a:srgbClr val="FFFFFF"/>
                    </a:solidFill>
                  </a:tcPr>
                </a:tc>
                <a:tc>
                  <a:txBody>
                    <a:bodyPr/>
                    <a:lstStyle/>
                    <a:p>
                      <a:pPr algn="ctr"/>
                      <a:r>
                        <a:rPr sz="1500" b="0">
                          <a:solidFill>
                            <a:srgbClr val="1F2933"/>
                          </a:solidFill>
                          <a:latin typeface="Courier New"/>
                        </a:rPr>
                        <a:t>(2, −1)</a:t>
                      </a:r>
                    </a:p>
                  </a:txBody>
                  <a:tcPr marL="64008" marR="64008" anchor="ctr">
                    <a:solidFill>
                      <a:srgbClr val="FFFFFF"/>
                    </a:solidFill>
                  </a:tcPr>
                </a:tc>
                <a:extLst>
                  <a:ext uri="{0D108BD9-81ED-4DB2-BD59-A6C34878D82A}">
                    <a16:rowId xmlns:a16="http://schemas.microsoft.com/office/drawing/2014/main" val="10001"/>
                  </a:ext>
                </a:extLst>
              </a:tr>
              <a:tr h="420624">
                <a:tc>
                  <a:txBody>
                    <a:bodyPr/>
                    <a:lstStyle/>
                    <a:p>
                      <a:pPr algn="ctr"/>
                      <a:r>
                        <a:rPr sz="1500" b="0">
                          <a:solidFill>
                            <a:srgbClr val="1F2933"/>
                          </a:solidFill>
                          <a:latin typeface="Arial"/>
                        </a:rPr>
                        <a:t>2</a:t>
                      </a:r>
                    </a:p>
                  </a:txBody>
                  <a:tcPr marL="64008" marR="64008" anchor="ctr">
                    <a:solidFill>
                      <a:srgbClr val="FFFFFF"/>
                    </a:solidFill>
                  </a:tcPr>
                </a:tc>
                <a:tc>
                  <a:txBody>
                    <a:bodyPr/>
                    <a:lstStyle/>
                    <a:p>
                      <a:pPr algn="l"/>
                      <a:r>
                        <a:rPr sz="1500" b="0">
                          <a:solidFill>
                            <a:srgbClr val="1F2933"/>
                          </a:solidFill>
                          <a:latin typeface="Arial"/>
                        </a:rPr>
                        <a:t>Little Comet</a:t>
                      </a:r>
                    </a:p>
                  </a:txBody>
                  <a:tcPr marL="64008" marR="64008" anchor="ctr">
                    <a:solidFill>
                      <a:srgbClr val="FFFFFF"/>
                    </a:solidFill>
                  </a:tcPr>
                </a:tc>
                <a:tc>
                  <a:txBody>
                    <a:bodyPr/>
                    <a:lstStyle/>
                    <a:p>
                      <a:pPr algn="ctr"/>
                      <a:r>
                        <a:rPr sz="1500" b="0">
                          <a:solidFill>
                            <a:srgbClr val="1F2933"/>
                          </a:solidFill>
                          <a:latin typeface="Arial"/>
                        </a:rPr>
                        <a:t>3</a:t>
                      </a:r>
                    </a:p>
                  </a:txBody>
                  <a:tcPr marL="64008" marR="64008" anchor="ctr">
                    <a:solidFill>
                      <a:srgbClr val="FFFFFF"/>
                    </a:solidFill>
                  </a:tcPr>
                </a:tc>
                <a:tc>
                  <a:txBody>
                    <a:bodyPr/>
                    <a:lstStyle/>
                    <a:p>
                      <a:pPr algn="ctr"/>
                      <a:r>
                        <a:rPr sz="1500" b="0">
                          <a:solidFill>
                            <a:srgbClr val="1F2933"/>
                          </a:solidFill>
                          <a:latin typeface="Arial"/>
                        </a:rPr>
                        <a:t>900</a:t>
                      </a:r>
                    </a:p>
                  </a:txBody>
                  <a:tcPr marL="64008" marR="64008" anchor="ctr">
                    <a:solidFill>
                      <a:srgbClr val="FFFFFF"/>
                    </a:solidFill>
                  </a:tcPr>
                </a:tc>
                <a:tc>
                  <a:txBody>
                    <a:bodyPr/>
                    <a:lstStyle/>
                    <a:p>
                      <a:pPr algn="ctr"/>
                      <a:r>
                        <a:rPr sz="1500" b="0">
                          <a:solidFill>
                            <a:srgbClr val="1F2933"/>
                          </a:solidFill>
                          <a:latin typeface="Arial"/>
                        </a:rPr>
                        <a:t>Won</a:t>
                      </a:r>
                    </a:p>
                  </a:txBody>
                  <a:tcPr marL="64008" marR="64008" anchor="ctr">
                    <a:solidFill>
                      <a:srgbClr val="FFFFFF"/>
                    </a:solidFill>
                  </a:tcPr>
                </a:tc>
                <a:tc>
                  <a:txBody>
                    <a:bodyPr/>
                    <a:lstStyle/>
                    <a:p>
                      <a:pPr algn="ctr"/>
                      <a:r>
                        <a:rPr sz="1500" b="0">
                          <a:solidFill>
                            <a:srgbClr val="1F2933"/>
                          </a:solidFill>
                          <a:latin typeface="Courier New"/>
                        </a:rPr>
                        <a:t>(−2, −1)</a:t>
                      </a:r>
                    </a:p>
                  </a:txBody>
                  <a:tcPr marL="64008" marR="64008" anchor="ctr">
                    <a:solidFill>
                      <a:srgbClr val="FFFFFF"/>
                    </a:solidFill>
                  </a:tcPr>
                </a:tc>
                <a:extLst>
                  <a:ext uri="{0D108BD9-81ED-4DB2-BD59-A6C34878D82A}">
                    <a16:rowId xmlns:a16="http://schemas.microsoft.com/office/drawing/2014/main" val="10002"/>
                  </a:ext>
                </a:extLst>
              </a:tr>
              <a:tr h="420624">
                <a:tc>
                  <a:txBody>
                    <a:bodyPr/>
                    <a:lstStyle/>
                    <a:p>
                      <a:pPr algn="ctr"/>
                      <a:r>
                        <a:rPr sz="1500" b="0">
                          <a:solidFill>
                            <a:srgbClr val="1F2933"/>
                          </a:solidFill>
                          <a:latin typeface="Arial"/>
                        </a:rPr>
                        <a:t>3</a:t>
                      </a:r>
                    </a:p>
                  </a:txBody>
                  <a:tcPr marL="64008" marR="64008" anchor="ctr">
                    <a:solidFill>
                      <a:srgbClr val="FFFFFF"/>
                    </a:solidFill>
                  </a:tcPr>
                </a:tc>
                <a:tc>
                  <a:txBody>
                    <a:bodyPr/>
                    <a:lstStyle/>
                    <a:p>
                      <a:pPr algn="l"/>
                      <a:r>
                        <a:rPr sz="1500" b="0">
                          <a:solidFill>
                            <a:srgbClr val="1F2933"/>
                          </a:solidFill>
                          <a:latin typeface="Arial"/>
                        </a:rPr>
                        <a:t>Old Timer</a:t>
                      </a:r>
                    </a:p>
                  </a:txBody>
                  <a:tcPr marL="64008" marR="64008" anchor="ctr">
                    <a:solidFill>
                      <a:srgbClr val="FFFFFF"/>
                    </a:solidFill>
                  </a:tcPr>
                </a:tc>
                <a:tc>
                  <a:txBody>
                    <a:bodyPr/>
                    <a:lstStyle/>
                    <a:p>
                      <a:pPr algn="ctr"/>
                      <a:r>
                        <a:rPr sz="1500" b="0">
                          <a:solidFill>
                            <a:srgbClr val="1F2933"/>
                          </a:solidFill>
                          <a:latin typeface="Arial"/>
                        </a:rPr>
                        <a:t>7</a:t>
                      </a:r>
                    </a:p>
                  </a:txBody>
                  <a:tcPr marL="64008" marR="64008" anchor="ctr">
                    <a:solidFill>
                      <a:srgbClr val="FFFFFF"/>
                    </a:solidFill>
                  </a:tcPr>
                </a:tc>
                <a:tc>
                  <a:txBody>
                    <a:bodyPr/>
                    <a:lstStyle/>
                    <a:p>
                      <a:pPr algn="ctr"/>
                      <a:r>
                        <a:rPr sz="1500" b="0">
                          <a:solidFill>
                            <a:srgbClr val="1F2933"/>
                          </a:solidFill>
                          <a:latin typeface="Arial"/>
                        </a:rPr>
                        <a:t>1,000</a:t>
                      </a:r>
                    </a:p>
                  </a:txBody>
                  <a:tcPr marL="64008" marR="64008" anchor="ctr">
                    <a:solidFill>
                      <a:srgbClr val="FFFFFF"/>
                    </a:solidFill>
                  </a:tcPr>
                </a:tc>
                <a:tc>
                  <a:txBody>
                    <a:bodyPr/>
                    <a:lstStyle/>
                    <a:p>
                      <a:pPr algn="ctr"/>
                      <a:r>
                        <a:rPr sz="1500" b="0">
                          <a:solidFill>
                            <a:srgbClr val="1F2933"/>
                          </a:solidFill>
                          <a:latin typeface="Arial"/>
                        </a:rPr>
                        <a:t>Lost</a:t>
                      </a:r>
                    </a:p>
                  </a:txBody>
                  <a:tcPr marL="64008" marR="64008" anchor="ctr">
                    <a:solidFill>
                      <a:srgbClr val="FFFFFF"/>
                    </a:solidFill>
                  </a:tcPr>
                </a:tc>
                <a:tc>
                  <a:txBody>
                    <a:bodyPr/>
                    <a:lstStyle/>
                    <a:p>
                      <a:pPr algn="ctr"/>
                      <a:r>
                        <a:rPr sz="1500" b="0">
                          <a:solidFill>
                            <a:srgbClr val="1F2933"/>
                          </a:solidFill>
                          <a:latin typeface="Courier New"/>
                        </a:rPr>
                        <a:t>(2, 0)</a:t>
                      </a:r>
                    </a:p>
                  </a:txBody>
                  <a:tcPr marL="64008" marR="64008" anchor="ctr">
                    <a:solidFill>
                      <a:srgbClr val="FFFFFF"/>
                    </a:solidFill>
                  </a:tcPr>
                </a:tc>
                <a:extLst>
                  <a:ext uri="{0D108BD9-81ED-4DB2-BD59-A6C34878D82A}">
                    <a16:rowId xmlns:a16="http://schemas.microsoft.com/office/drawing/2014/main" val="10003"/>
                  </a:ext>
                </a:extLst>
              </a:tr>
              <a:tr h="420624">
                <a:tc>
                  <a:txBody>
                    <a:bodyPr/>
                    <a:lstStyle/>
                    <a:p>
                      <a:pPr algn="ctr"/>
                      <a:r>
                        <a:rPr sz="1500" b="0">
                          <a:solidFill>
                            <a:srgbClr val="1F2933"/>
                          </a:solidFill>
                          <a:latin typeface="Arial"/>
                        </a:rPr>
                        <a:t>4</a:t>
                      </a:r>
                    </a:p>
                  </a:txBody>
                  <a:tcPr marL="64008" marR="64008" anchor="ctr">
                    <a:solidFill>
                      <a:srgbClr val="FFFFFF"/>
                    </a:solidFill>
                  </a:tcPr>
                </a:tc>
                <a:tc>
                  <a:txBody>
                    <a:bodyPr/>
                    <a:lstStyle/>
                    <a:p>
                      <a:pPr algn="l"/>
                      <a:r>
                        <a:rPr sz="1500" b="0">
                          <a:solidFill>
                            <a:srgbClr val="1F2933"/>
                          </a:solidFill>
                          <a:latin typeface="Arial"/>
                        </a:rPr>
                        <a:t>Big Ben</a:t>
                      </a:r>
                    </a:p>
                  </a:txBody>
                  <a:tcPr marL="64008" marR="64008" anchor="ctr">
                    <a:solidFill>
                      <a:srgbClr val="FFFFFF"/>
                    </a:solidFill>
                  </a:tcPr>
                </a:tc>
                <a:tc>
                  <a:txBody>
                    <a:bodyPr/>
                    <a:lstStyle/>
                    <a:p>
                      <a:pPr algn="ctr"/>
                      <a:r>
                        <a:rPr sz="1500" b="0">
                          <a:solidFill>
                            <a:srgbClr val="1F2933"/>
                          </a:solidFill>
                          <a:latin typeface="Arial"/>
                        </a:rPr>
                        <a:t>7</a:t>
                      </a:r>
                    </a:p>
                  </a:txBody>
                  <a:tcPr marL="64008" marR="64008" anchor="ctr">
                    <a:solidFill>
                      <a:srgbClr val="FFFFFF"/>
                    </a:solidFill>
                  </a:tcPr>
                </a:tc>
                <a:tc>
                  <a:txBody>
                    <a:bodyPr/>
                    <a:lstStyle/>
                    <a:p>
                      <a:pPr algn="ctr"/>
                      <a:r>
                        <a:rPr sz="1500" b="0">
                          <a:solidFill>
                            <a:srgbClr val="1F2933"/>
                          </a:solidFill>
                          <a:latin typeface="Arial"/>
                        </a:rPr>
                        <a:t>1,100</a:t>
                      </a:r>
                    </a:p>
                  </a:txBody>
                  <a:tcPr marL="64008" marR="64008" anchor="ctr">
                    <a:solidFill>
                      <a:srgbClr val="FFFFFF"/>
                    </a:solidFill>
                  </a:tcPr>
                </a:tc>
                <a:tc>
                  <a:txBody>
                    <a:bodyPr/>
                    <a:lstStyle/>
                    <a:p>
                      <a:pPr algn="ctr"/>
                      <a:r>
                        <a:rPr sz="1500" b="0">
                          <a:solidFill>
                            <a:srgbClr val="1F2933"/>
                          </a:solidFill>
                          <a:latin typeface="Arial"/>
                        </a:rPr>
                        <a:t>Lost</a:t>
                      </a:r>
                    </a:p>
                  </a:txBody>
                  <a:tcPr marL="64008" marR="64008" anchor="ctr">
                    <a:solidFill>
                      <a:srgbClr val="FFFFFF"/>
                    </a:solidFill>
                  </a:tcPr>
                </a:tc>
                <a:tc>
                  <a:txBody>
                    <a:bodyPr/>
                    <a:lstStyle/>
                    <a:p>
                      <a:pPr algn="ctr"/>
                      <a:r>
                        <a:rPr sz="1500" b="0">
                          <a:solidFill>
                            <a:srgbClr val="1F2933"/>
                          </a:solidFill>
                          <a:latin typeface="Courier New"/>
                        </a:rPr>
                        <a:t>(2, 1)</a:t>
                      </a:r>
                    </a:p>
                  </a:txBody>
                  <a:tcPr marL="64008" marR="64008" anchor="ctr">
                    <a:solidFill>
                      <a:srgbClr val="FFFFFF"/>
                    </a:solidFill>
                  </a:tcPr>
                </a:tc>
                <a:extLst>
                  <a:ext uri="{0D108BD9-81ED-4DB2-BD59-A6C34878D82A}">
                    <a16:rowId xmlns:a16="http://schemas.microsoft.com/office/drawing/2014/main" val="10004"/>
                  </a:ext>
                </a:extLst>
              </a:tr>
              <a:tr h="420624">
                <a:tc>
                  <a:txBody>
                    <a:bodyPr/>
                    <a:lstStyle/>
                    <a:p>
                      <a:pPr algn="ctr"/>
                      <a:r>
                        <a:rPr sz="1500" b="0">
                          <a:solidFill>
                            <a:srgbClr val="1F2933"/>
                          </a:solidFill>
                          <a:latin typeface="Arial"/>
                        </a:rPr>
                        <a:t>5</a:t>
                      </a:r>
                    </a:p>
                  </a:txBody>
                  <a:tcPr marL="64008" marR="64008" anchor="ctr">
                    <a:solidFill>
                      <a:srgbClr val="FFFFFF"/>
                    </a:solidFill>
                  </a:tcPr>
                </a:tc>
                <a:tc>
                  <a:txBody>
                    <a:bodyPr/>
                    <a:lstStyle/>
                    <a:p>
                      <a:pPr algn="l"/>
                      <a:r>
                        <a:rPr sz="1500" b="0">
                          <a:solidFill>
                            <a:srgbClr val="1F2933"/>
                          </a:solidFill>
                          <a:latin typeface="Arial"/>
                        </a:rPr>
                        <a:t>Featherweight</a:t>
                      </a:r>
                    </a:p>
                  </a:txBody>
                  <a:tcPr marL="64008" marR="64008" anchor="ctr">
                    <a:solidFill>
                      <a:srgbClr val="FFFFFF"/>
                    </a:solidFill>
                  </a:tcPr>
                </a:tc>
                <a:tc>
                  <a:txBody>
                    <a:bodyPr/>
                    <a:lstStyle/>
                    <a:p>
                      <a:pPr algn="ctr"/>
                      <a:r>
                        <a:rPr sz="1500" b="0">
                          <a:solidFill>
                            <a:srgbClr val="1F2933"/>
                          </a:solidFill>
                          <a:latin typeface="Arial"/>
                        </a:rPr>
                        <a:t>5</a:t>
                      </a:r>
                    </a:p>
                  </a:txBody>
                  <a:tcPr marL="64008" marR="64008" anchor="ctr">
                    <a:solidFill>
                      <a:srgbClr val="FFFFFF"/>
                    </a:solidFill>
                  </a:tcPr>
                </a:tc>
                <a:tc>
                  <a:txBody>
                    <a:bodyPr/>
                    <a:lstStyle/>
                    <a:p>
                      <a:pPr algn="ctr"/>
                      <a:r>
                        <a:rPr sz="1500" b="0">
                          <a:solidFill>
                            <a:srgbClr val="1F2933"/>
                          </a:solidFill>
                          <a:latin typeface="Arial"/>
                        </a:rPr>
                        <a:t>800</a:t>
                      </a:r>
                    </a:p>
                  </a:txBody>
                  <a:tcPr marL="64008" marR="64008" anchor="ctr">
                    <a:solidFill>
                      <a:srgbClr val="FFFFFF"/>
                    </a:solidFill>
                  </a:tcPr>
                </a:tc>
                <a:tc>
                  <a:txBody>
                    <a:bodyPr/>
                    <a:lstStyle/>
                    <a:p>
                      <a:pPr algn="ctr"/>
                      <a:r>
                        <a:rPr sz="1500" b="0">
                          <a:solidFill>
                            <a:srgbClr val="1F2933"/>
                          </a:solidFill>
                          <a:latin typeface="Arial"/>
                        </a:rPr>
                        <a:t>Won</a:t>
                      </a:r>
                    </a:p>
                  </a:txBody>
                  <a:tcPr marL="64008" marR="64008" anchor="ctr">
                    <a:solidFill>
                      <a:srgbClr val="FFFFFF"/>
                    </a:solidFill>
                  </a:tcPr>
                </a:tc>
                <a:tc>
                  <a:txBody>
                    <a:bodyPr/>
                    <a:lstStyle/>
                    <a:p>
                      <a:pPr algn="ctr"/>
                      <a:r>
                        <a:rPr sz="1500" b="0">
                          <a:solidFill>
                            <a:srgbClr val="1F2933"/>
                          </a:solidFill>
                          <a:latin typeface="Courier New"/>
                        </a:rPr>
                        <a:t>(0, −2)</a:t>
                      </a:r>
                    </a:p>
                  </a:txBody>
                  <a:tcPr marL="64008" marR="64008" anchor="ctr">
                    <a:solidFill>
                      <a:srgbClr val="FFFFFF"/>
                    </a:solidFill>
                  </a:tcPr>
                </a:tc>
                <a:extLst>
                  <a:ext uri="{0D108BD9-81ED-4DB2-BD59-A6C34878D82A}">
                    <a16:rowId xmlns:a16="http://schemas.microsoft.com/office/drawing/2014/main" val="10005"/>
                  </a:ext>
                </a:extLst>
              </a:tr>
              <a:tr h="420624">
                <a:tc>
                  <a:txBody>
                    <a:bodyPr/>
                    <a:lstStyle/>
                    <a:p>
                      <a:pPr algn="ctr"/>
                      <a:r>
                        <a:rPr sz="1500" b="0">
                          <a:solidFill>
                            <a:srgbClr val="1F2933"/>
                          </a:solidFill>
                          <a:latin typeface="Arial"/>
                        </a:rPr>
                        <a:t>6</a:t>
                      </a:r>
                    </a:p>
                  </a:txBody>
                  <a:tcPr marL="64008" marR="64008" anchor="ctr">
                    <a:solidFill>
                      <a:srgbClr val="FFFFFF"/>
                    </a:solidFill>
                  </a:tcPr>
                </a:tc>
                <a:tc>
                  <a:txBody>
                    <a:bodyPr/>
                    <a:lstStyle/>
                    <a:p>
                      <a:pPr algn="l"/>
                      <a:r>
                        <a:rPr sz="1500" b="0">
                          <a:solidFill>
                            <a:srgbClr val="1F2933"/>
                          </a:solidFill>
                          <a:latin typeface="Arial"/>
                        </a:rPr>
                        <a:t>Swift Kid</a:t>
                      </a:r>
                    </a:p>
                  </a:txBody>
                  <a:tcPr marL="64008" marR="64008" anchor="ctr">
                    <a:solidFill>
                      <a:srgbClr val="FFFFFF"/>
                    </a:solidFill>
                  </a:tcPr>
                </a:tc>
                <a:tc>
                  <a:txBody>
                    <a:bodyPr/>
                    <a:lstStyle/>
                    <a:p>
                      <a:pPr algn="ctr"/>
                      <a:r>
                        <a:rPr sz="1500" b="0">
                          <a:solidFill>
                            <a:srgbClr val="1F2933"/>
                          </a:solidFill>
                          <a:latin typeface="Arial"/>
                        </a:rPr>
                        <a:t>5</a:t>
                      </a:r>
                    </a:p>
                  </a:txBody>
                  <a:tcPr marL="64008" marR="64008" anchor="ctr">
                    <a:solidFill>
                      <a:srgbClr val="FFFFFF"/>
                    </a:solidFill>
                  </a:tcPr>
                </a:tc>
                <a:tc>
                  <a:txBody>
                    <a:bodyPr/>
                    <a:lstStyle/>
                    <a:p>
                      <a:pPr algn="ctr"/>
                      <a:r>
                        <a:rPr sz="1500" b="0">
                          <a:solidFill>
                            <a:srgbClr val="1F2933"/>
                          </a:solidFill>
                          <a:latin typeface="Arial"/>
                        </a:rPr>
                        <a:t>900</a:t>
                      </a:r>
                    </a:p>
                  </a:txBody>
                  <a:tcPr marL="64008" marR="64008" anchor="ctr">
                    <a:solidFill>
                      <a:srgbClr val="FFFFFF"/>
                    </a:solidFill>
                  </a:tcPr>
                </a:tc>
                <a:tc>
                  <a:txBody>
                    <a:bodyPr/>
                    <a:lstStyle/>
                    <a:p>
                      <a:pPr algn="ctr"/>
                      <a:r>
                        <a:rPr sz="1500" b="0">
                          <a:solidFill>
                            <a:srgbClr val="1F2933"/>
                          </a:solidFill>
                          <a:latin typeface="Arial"/>
                        </a:rPr>
                        <a:t>Won</a:t>
                      </a:r>
                    </a:p>
                  </a:txBody>
                  <a:tcPr marL="64008" marR="64008" anchor="ctr">
                    <a:solidFill>
                      <a:srgbClr val="FFFFFF"/>
                    </a:solidFill>
                  </a:tcPr>
                </a:tc>
                <a:tc>
                  <a:txBody>
                    <a:bodyPr/>
                    <a:lstStyle/>
                    <a:p>
                      <a:pPr algn="ctr"/>
                      <a:r>
                        <a:rPr sz="1500" b="0">
                          <a:solidFill>
                            <a:srgbClr val="1F2933"/>
                          </a:solidFill>
                          <a:latin typeface="Courier New"/>
                        </a:rPr>
                        <a:t>(0, −1)</a:t>
                      </a:r>
                    </a:p>
                  </a:txBody>
                  <a:tcPr marL="64008" marR="64008" anchor="ctr">
                    <a:solidFill>
                      <a:srgbClr val="FFFF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548640" y="4800600"/>
            <a:ext cx="5943600" cy="1463040"/>
          </a:xfrm>
          <a:prstGeom prst="rect">
            <a:avLst/>
          </a:prstGeom>
          <a:noFill/>
        </p:spPr>
        <p:txBody>
          <a:bodyPr wrap="square" lIns="0" tIns="0" rIns="0" bIns="0" anchor="t">
            <a:spAutoFit/>
          </a:bodyPr>
          <a:lstStyle/>
          <a:p>
            <a:pPr algn="l">
              <a:spcAft>
                <a:spcPts val="600"/>
              </a:spcAft>
            </a:pPr>
            <a:r>
              <a:rPr sz="1500" b="1" i="0">
                <a:solidFill>
                  <a:srgbClr val="1F2933"/>
                </a:solidFill>
                <a:latin typeface="Courier New"/>
              </a:rPr>
              <a:t>x = (age − 5, (weight − 1,000) ÷ 100)</a:t>
            </a:r>
          </a:p>
          <a:p>
            <a:pPr algn="l">
              <a:spcAft>
                <a:spcPts val="600"/>
              </a:spcAft>
            </a:pPr>
            <a:r>
              <a:rPr sz="1500" b="0" i="0">
                <a:solidFill>
                  <a:srgbClr val="52606D"/>
                </a:solidFill>
                <a:latin typeface="Arial"/>
              </a:rPr>
              <a:t>Each horse is measured relative to the average horse (5 years, 1,000 lbs).</a:t>
            </a:r>
          </a:p>
          <a:p>
            <a:pPr algn="l">
              <a:spcAft>
                <a:spcPts val="600"/>
              </a:spcAft>
            </a:pPr>
            <a:r>
              <a:rPr sz="1500" b="0" i="0">
                <a:solidFill>
                  <a:srgbClr val="52606D"/>
                </a:solidFill>
                <a:latin typeface="Arial"/>
              </a:rPr>
              <a:t>Pretend each result is independent, and that age and weight really matter.</a:t>
            </a:r>
          </a:p>
        </p:txBody>
      </p:sp>
      <p:pic>
        <p:nvPicPr>
          <p:cNvPr id="6" name="Picture 5" descr="h_setup.png"/>
          <p:cNvPicPr>
            <a:picLocks noChangeAspect="1"/>
          </p:cNvPicPr>
          <p:nvPr/>
        </p:nvPicPr>
        <p:blipFill>
          <a:blip r:embed="rId3"/>
          <a:stretch>
            <a:fillRect/>
          </a:stretch>
        </p:blipFill>
        <p:spPr>
          <a:xfrm>
            <a:off x="6903720" y="1417320"/>
            <a:ext cx="4846320" cy="4846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Guess, check, and only change when you're wrong</a:t>
            </a:r>
          </a:p>
        </p:txBody>
      </p:sp>
      <p:sp>
        <p:nvSpPr>
          <p:cNvPr id="4" name="Rectangle 3"/>
          <p:cNvSpPr/>
          <p:nvPr/>
        </p:nvSpPr>
        <p:spPr>
          <a:xfrm>
            <a:off x="548640" y="1783080"/>
            <a:ext cx="3108960" cy="1965960"/>
          </a:xfrm>
          <a:prstGeom prst="rect">
            <a:avLst/>
          </a:prstGeom>
          <a:solidFill>
            <a:srgbClr val="F2F4F6"/>
          </a:solidFill>
          <a:ln>
            <a:noFill/>
          </a:ln>
          <a:effectLst/>
        </p:spPr>
        <p:txBody>
          <a:bodyPr rtlCol="0" anchor="ctr"/>
          <a:lstStyle/>
          <a:p>
            <a:pPr algn="ctr"/>
            <a:endParaRPr/>
          </a:p>
        </p:txBody>
      </p:sp>
      <p:sp>
        <p:nvSpPr>
          <p:cNvPr id="5" name="TextBox 4"/>
          <p:cNvSpPr txBox="1"/>
          <p:nvPr/>
        </p:nvSpPr>
        <p:spPr>
          <a:xfrm>
            <a:off x="822959" y="2011680"/>
            <a:ext cx="2560320" cy="1431161"/>
          </a:xfrm>
          <a:prstGeom prst="rect">
            <a:avLst/>
          </a:prstGeom>
          <a:noFill/>
        </p:spPr>
        <p:txBody>
          <a:bodyPr wrap="square" lIns="0" tIns="0" rIns="0" bIns="0" anchor="t">
            <a:spAutoFit/>
          </a:bodyPr>
          <a:lstStyle/>
          <a:p>
            <a:pPr algn="l">
              <a:spcAft>
                <a:spcPts val="600"/>
              </a:spcAft>
            </a:pPr>
            <a:r>
              <a:rPr sz="2200" b="1" i="0" dirty="0">
                <a:solidFill>
                  <a:srgbClr val="1F2933"/>
                </a:solidFill>
                <a:latin typeface="Arial"/>
              </a:rPr>
              <a:t>1  Guess</a:t>
            </a:r>
          </a:p>
          <a:p>
            <a:pPr algn="l">
              <a:spcAft>
                <a:spcPts val="600"/>
              </a:spcAft>
            </a:pPr>
            <a:r>
              <a:rPr sz="1800" b="0" i="0" dirty="0">
                <a:solidFill>
                  <a:srgbClr val="1F2933"/>
                </a:solidFill>
                <a:latin typeface="Arial"/>
              </a:rPr>
              <a:t>Will it win?</a:t>
            </a:r>
            <a:r>
              <a:rPr lang="en-US" sz="1800" b="0" i="0" dirty="0">
                <a:solidFill>
                  <a:srgbClr val="1F2933"/>
                </a:solidFill>
                <a:latin typeface="Arial"/>
              </a:rPr>
              <a:t> Predict</a:t>
            </a:r>
            <a:endParaRPr sz="1800" b="0" i="0" dirty="0">
              <a:solidFill>
                <a:srgbClr val="1F2933"/>
              </a:solidFill>
              <a:latin typeface="Arial"/>
            </a:endParaRPr>
          </a:p>
          <a:p>
            <a:pPr algn="l">
              <a:spcAft>
                <a:spcPts val="600"/>
              </a:spcAft>
            </a:pPr>
            <a:r>
              <a:rPr sz="2000" b="1" i="0" dirty="0">
                <a:solidFill>
                  <a:srgbClr val="1F2933"/>
                </a:solidFill>
                <a:latin typeface="Courier New"/>
              </a:rPr>
              <a:t>sign(v · x)</a:t>
            </a:r>
          </a:p>
          <a:p>
            <a:pPr algn="l">
              <a:spcAft>
                <a:spcPts val="600"/>
              </a:spcAft>
            </a:pPr>
            <a:r>
              <a:rPr sz="1800" b="0" i="0" dirty="0">
                <a:solidFill>
                  <a:srgbClr val="1F2933"/>
                </a:solidFill>
                <a:latin typeface="Arial"/>
              </a:rPr>
              <a:t>+ means win</a:t>
            </a:r>
          </a:p>
        </p:txBody>
      </p:sp>
      <p:sp>
        <p:nvSpPr>
          <p:cNvPr id="6" name="Rectangle 5"/>
          <p:cNvSpPr/>
          <p:nvPr/>
        </p:nvSpPr>
        <p:spPr>
          <a:xfrm>
            <a:off x="4526280" y="1783080"/>
            <a:ext cx="3108960" cy="1965960"/>
          </a:xfrm>
          <a:prstGeom prst="rect">
            <a:avLst/>
          </a:prstGeom>
          <a:solidFill>
            <a:srgbClr val="F2F4F6"/>
          </a:solidFill>
          <a:ln>
            <a:noFill/>
          </a:ln>
          <a:effectLst/>
        </p:spPr>
        <p:txBody>
          <a:bodyPr rtlCol="0" anchor="ctr"/>
          <a:lstStyle/>
          <a:p>
            <a:pPr algn="ctr"/>
            <a:endParaRPr/>
          </a:p>
        </p:txBody>
      </p:sp>
      <p:sp>
        <p:nvSpPr>
          <p:cNvPr id="7" name="TextBox 6"/>
          <p:cNvSpPr txBox="1"/>
          <p:nvPr/>
        </p:nvSpPr>
        <p:spPr>
          <a:xfrm>
            <a:off x="4800600" y="2011680"/>
            <a:ext cx="2560320" cy="1645920"/>
          </a:xfrm>
          <a:prstGeom prst="rect">
            <a:avLst/>
          </a:prstGeom>
          <a:noFill/>
        </p:spPr>
        <p:txBody>
          <a:bodyPr wrap="square" lIns="0" tIns="0" rIns="0" bIns="0" anchor="t">
            <a:spAutoFit/>
          </a:bodyPr>
          <a:lstStyle/>
          <a:p>
            <a:pPr algn="l">
              <a:spcAft>
                <a:spcPts val="600"/>
              </a:spcAft>
            </a:pPr>
            <a:r>
              <a:rPr sz="2200" b="1" i="0" dirty="0">
                <a:solidFill>
                  <a:srgbClr val="1F2933"/>
                </a:solidFill>
                <a:latin typeface="Arial"/>
              </a:rPr>
              <a:t>2  Check</a:t>
            </a:r>
          </a:p>
          <a:p>
            <a:pPr algn="l">
              <a:spcAft>
                <a:spcPts val="600"/>
              </a:spcAft>
            </a:pPr>
            <a:r>
              <a:rPr sz="1800" b="0" i="0" dirty="0">
                <a:solidFill>
                  <a:srgbClr val="1F2933"/>
                </a:solidFill>
                <a:latin typeface="Arial"/>
              </a:rPr>
              <a:t>Did it win?</a:t>
            </a:r>
          </a:p>
          <a:p>
            <a:pPr algn="l">
              <a:spcAft>
                <a:spcPts val="600"/>
              </a:spcAft>
            </a:pPr>
            <a:r>
              <a:rPr sz="1800" b="0" i="0" dirty="0">
                <a:solidFill>
                  <a:srgbClr val="1F2933"/>
                </a:solidFill>
                <a:latin typeface="Arial"/>
              </a:rPr>
              <a:t>y = +1 won</a:t>
            </a:r>
          </a:p>
          <a:p>
            <a:pPr algn="l">
              <a:spcAft>
                <a:spcPts val="600"/>
              </a:spcAft>
            </a:pPr>
            <a:r>
              <a:rPr sz="1800" b="0" i="0" dirty="0">
                <a:solidFill>
                  <a:srgbClr val="1F2933"/>
                </a:solidFill>
                <a:latin typeface="Arial"/>
              </a:rPr>
              <a:t>y = −1 lost</a:t>
            </a:r>
          </a:p>
        </p:txBody>
      </p:sp>
      <p:sp>
        <p:nvSpPr>
          <p:cNvPr id="8" name="Rectangle 7"/>
          <p:cNvSpPr/>
          <p:nvPr/>
        </p:nvSpPr>
        <p:spPr>
          <a:xfrm>
            <a:off x="8503920" y="1783080"/>
            <a:ext cx="3108960" cy="1965960"/>
          </a:xfrm>
          <a:prstGeom prst="rect">
            <a:avLst/>
          </a:prstGeom>
          <a:solidFill>
            <a:srgbClr val="F2F4F6"/>
          </a:solidFill>
          <a:ln>
            <a:noFill/>
          </a:ln>
          <a:effectLst/>
        </p:spPr>
        <p:txBody>
          <a:bodyPr rtlCol="0" anchor="ctr"/>
          <a:lstStyle/>
          <a:p>
            <a:pPr algn="ctr"/>
            <a:endParaRPr/>
          </a:p>
        </p:txBody>
      </p:sp>
      <p:sp>
        <p:nvSpPr>
          <p:cNvPr id="9" name="TextBox 8"/>
          <p:cNvSpPr txBox="1"/>
          <p:nvPr/>
        </p:nvSpPr>
        <p:spPr>
          <a:xfrm>
            <a:off x="8778240" y="2011680"/>
            <a:ext cx="2560320" cy="1645920"/>
          </a:xfrm>
          <a:prstGeom prst="rect">
            <a:avLst/>
          </a:prstGeom>
          <a:noFill/>
        </p:spPr>
        <p:txBody>
          <a:bodyPr wrap="square" lIns="0" tIns="0" rIns="0" bIns="0" anchor="t">
            <a:spAutoFit/>
          </a:bodyPr>
          <a:lstStyle/>
          <a:p>
            <a:pPr algn="l">
              <a:spcAft>
                <a:spcPts val="600"/>
              </a:spcAft>
            </a:pPr>
            <a:r>
              <a:rPr sz="2200" b="1" i="0">
                <a:solidFill>
                  <a:srgbClr val="1F2933"/>
                </a:solidFill>
                <a:latin typeface="Arial"/>
              </a:rPr>
              <a:t>3  Fix only if wrong</a:t>
            </a:r>
          </a:p>
          <a:p>
            <a:pPr algn="l">
              <a:spcAft>
                <a:spcPts val="600"/>
              </a:spcAft>
            </a:pPr>
            <a:r>
              <a:rPr sz="2000" b="1" i="0">
                <a:solidFill>
                  <a:srgbClr val="1F2933"/>
                </a:solidFill>
                <a:latin typeface="Courier New"/>
              </a:rPr>
              <a:t>v ← v + y·x</a:t>
            </a:r>
          </a:p>
          <a:p>
            <a:pPr algn="l">
              <a:spcAft>
                <a:spcPts val="600"/>
              </a:spcAft>
            </a:pPr>
            <a:r>
              <a:rPr sz="1800" b="0" i="0">
                <a:solidFill>
                  <a:srgbClr val="1F2933"/>
                </a:solidFill>
                <a:latin typeface="Arial"/>
              </a:rPr>
              <a:t>Right? Change nothing.</a:t>
            </a:r>
          </a:p>
        </p:txBody>
      </p:sp>
      <p:sp>
        <p:nvSpPr>
          <p:cNvPr id="10" name="Right Arrow 9"/>
          <p:cNvSpPr/>
          <p:nvPr/>
        </p:nvSpPr>
        <p:spPr>
          <a:xfrm>
            <a:off x="3749039" y="2514600"/>
            <a:ext cx="640080" cy="457200"/>
          </a:xfrm>
          <a:prstGeom prst="rightArrow">
            <a:avLst/>
          </a:prstGeom>
          <a:solidFill>
            <a:srgbClr val="9AA5B1"/>
          </a:solidFill>
          <a:ln>
            <a:noFill/>
          </a:ln>
          <a:effectLst/>
        </p:spPr>
        <p:txBody>
          <a:bodyPr rtlCol="0" anchor="ctr"/>
          <a:lstStyle/>
          <a:p>
            <a:pPr algn="ctr"/>
            <a:endParaRPr/>
          </a:p>
        </p:txBody>
      </p:sp>
      <p:sp>
        <p:nvSpPr>
          <p:cNvPr id="11" name="Right Arrow 10"/>
          <p:cNvSpPr/>
          <p:nvPr/>
        </p:nvSpPr>
        <p:spPr>
          <a:xfrm>
            <a:off x="7726679" y="2514600"/>
            <a:ext cx="640080" cy="457200"/>
          </a:xfrm>
          <a:prstGeom prst="rightArrow">
            <a:avLst/>
          </a:prstGeom>
          <a:solidFill>
            <a:srgbClr val="9AA5B1"/>
          </a:solidFill>
          <a:ln>
            <a:noFill/>
          </a:ln>
          <a:effectLst/>
        </p:spPr>
        <p:txBody>
          <a:bodyPr rtlCol="0" anchor="ctr"/>
          <a:lstStyle/>
          <a:p>
            <a:pPr algn="ctr"/>
            <a:endParaRPr/>
          </a:p>
        </p:txBody>
      </p:sp>
      <p:sp>
        <p:nvSpPr>
          <p:cNvPr id="12" name="TextBox 11"/>
          <p:cNvSpPr txBox="1"/>
          <p:nvPr/>
        </p:nvSpPr>
        <p:spPr>
          <a:xfrm>
            <a:off x="548640" y="3977639"/>
            <a:ext cx="11064240" cy="365760"/>
          </a:xfrm>
          <a:prstGeom prst="rect">
            <a:avLst/>
          </a:prstGeom>
          <a:noFill/>
        </p:spPr>
        <p:txBody>
          <a:bodyPr wrap="square" lIns="0" tIns="0" rIns="0" bIns="0" anchor="t">
            <a:spAutoFit/>
          </a:bodyPr>
          <a:lstStyle/>
          <a:p>
            <a:pPr algn="l"/>
            <a:r>
              <a:rPr sz="1600" b="0" i="0">
                <a:solidFill>
                  <a:srgbClr val="52606D"/>
                </a:solidFill>
                <a:latin typeface="Arial"/>
              </a:rPr>
              <a:t>Then go to the next horse. Keep cycling through all the horses until a full pass has no mistakes.</a:t>
            </a:r>
          </a:p>
        </p:txBody>
      </p:sp>
      <p:sp>
        <p:nvSpPr>
          <p:cNvPr id="13" name="Rectangle 12"/>
          <p:cNvSpPr/>
          <p:nvPr/>
        </p:nvSpPr>
        <p:spPr>
          <a:xfrm>
            <a:off x="548640" y="4617720"/>
            <a:ext cx="11064240" cy="1463040"/>
          </a:xfrm>
          <a:prstGeom prst="rect">
            <a:avLst/>
          </a:prstGeom>
          <a:solidFill>
            <a:srgbClr val="EAF0F8"/>
          </a:solidFill>
          <a:ln>
            <a:noFill/>
          </a:ln>
          <a:effectLst/>
        </p:spPr>
        <p:txBody>
          <a:bodyPr rtlCol="0" anchor="ctr"/>
          <a:lstStyle/>
          <a:p>
            <a:pPr algn="ctr"/>
            <a:endParaRPr/>
          </a:p>
        </p:txBody>
      </p:sp>
      <p:sp>
        <p:nvSpPr>
          <p:cNvPr id="14" name="TextBox 13"/>
          <p:cNvSpPr txBox="1"/>
          <p:nvPr/>
        </p:nvSpPr>
        <p:spPr>
          <a:xfrm>
            <a:off x="868680" y="4617720"/>
            <a:ext cx="10424160" cy="1463040"/>
          </a:xfrm>
          <a:prstGeom prst="rect">
            <a:avLst/>
          </a:prstGeom>
          <a:noFill/>
        </p:spPr>
        <p:txBody>
          <a:bodyPr wrap="square" lIns="0" tIns="0" rIns="0" bIns="0" anchor="ctr">
            <a:spAutoFit/>
          </a:bodyPr>
          <a:lstStyle/>
          <a:p>
            <a:pPr algn="l"/>
            <a:r>
              <a:rPr sz="1800" b="1" i="0">
                <a:solidFill>
                  <a:srgbClr val="1F2933"/>
                </a:solidFill>
                <a:latin typeface="Arial"/>
              </a:rPr>
              <a:t>Reading v:  </a:t>
            </a:r>
            <a:r>
              <a:rPr sz="1800" b="0" i="0">
                <a:solidFill>
                  <a:srgbClr val="1F2933"/>
                </a:solidFill>
                <a:latin typeface="Arial"/>
              </a:rPr>
              <a:t>v = (age weight, weight weight), one number per feature. A negative number means smaller is better. v = (−2, −1) means younger and lighter horses win, and age matters twice as much.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Pass 1, horse by horse</a:t>
            </a:r>
          </a:p>
        </p:txBody>
      </p:sp>
      <p:sp>
        <p:nvSpPr>
          <p:cNvPr id="4" name="TextBox 3"/>
          <p:cNvSpPr txBox="1"/>
          <p:nvPr/>
        </p:nvSpPr>
        <p:spPr>
          <a:xfrm>
            <a:off x="548640" y="1463040"/>
            <a:ext cx="10972800" cy="365760"/>
          </a:xfrm>
          <a:prstGeom prst="rect">
            <a:avLst/>
          </a:prstGeom>
          <a:noFill/>
        </p:spPr>
        <p:txBody>
          <a:bodyPr wrap="square" lIns="0" tIns="0" rIns="0" bIns="0" anchor="t">
            <a:spAutoFit/>
          </a:bodyPr>
          <a:lstStyle/>
          <a:p>
            <a:pPr algn="l"/>
            <a:r>
              <a:rPr sz="1600" b="1" i="0">
                <a:solidFill>
                  <a:srgbClr val="1F2933"/>
                </a:solidFill>
                <a:latin typeface="Arial"/>
              </a:rPr>
              <a:t>Start with v = (0, 0)</a:t>
            </a:r>
          </a:p>
        </p:txBody>
      </p:sp>
      <p:graphicFrame>
        <p:nvGraphicFramePr>
          <p:cNvPr id="5" name="Table 4"/>
          <p:cNvGraphicFramePr>
            <a:graphicFrameLocks noGrp="1"/>
          </p:cNvGraphicFramePr>
          <p:nvPr/>
        </p:nvGraphicFramePr>
        <p:xfrm>
          <a:off x="548640" y="1874519"/>
          <a:ext cx="9006840" cy="2944368"/>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420624">
                <a:tc>
                  <a:txBody>
                    <a:bodyPr/>
                    <a:lstStyle/>
                    <a:p>
                      <a:pPr algn="l"/>
                      <a:r>
                        <a:rPr sz="1600" b="1">
                          <a:solidFill>
                            <a:srgbClr val="1F2933"/>
                          </a:solidFill>
                          <a:latin typeface="Arial"/>
                        </a:rPr>
                        <a:t>Horse</a:t>
                      </a:r>
                    </a:p>
                  </a:txBody>
                  <a:tcPr marL="64008" marR="64008" anchor="ctr">
                    <a:solidFill>
                      <a:srgbClr val="F2F4F6"/>
                    </a:solidFill>
                  </a:tcPr>
                </a:tc>
                <a:tc>
                  <a:txBody>
                    <a:bodyPr/>
                    <a:lstStyle/>
                    <a:p>
                      <a:pPr algn="ctr"/>
                      <a:r>
                        <a:rPr sz="1600" b="1">
                          <a:solidFill>
                            <a:srgbClr val="1F2933"/>
                          </a:solidFill>
                          <a:latin typeface="Arial"/>
                        </a:rPr>
                        <a:t>x</a:t>
                      </a:r>
                    </a:p>
                  </a:txBody>
                  <a:tcPr marL="64008" marR="64008" anchor="ctr">
                    <a:solidFill>
                      <a:srgbClr val="F2F4F6"/>
                    </a:solidFill>
                  </a:tcPr>
                </a:tc>
                <a:tc>
                  <a:txBody>
                    <a:bodyPr/>
                    <a:lstStyle/>
                    <a:p>
                      <a:pPr algn="ctr"/>
                      <a:r>
                        <a:rPr sz="1600" b="1">
                          <a:solidFill>
                            <a:srgbClr val="1F2933"/>
                          </a:solidFill>
                          <a:latin typeface="Arial"/>
                        </a:rPr>
                        <a:t>y</a:t>
                      </a:r>
                    </a:p>
                  </a:txBody>
                  <a:tcPr marL="64008" marR="64008" anchor="ctr">
                    <a:solidFill>
                      <a:srgbClr val="F2F4F6"/>
                    </a:solidFill>
                  </a:tcPr>
                </a:tc>
                <a:tc>
                  <a:txBody>
                    <a:bodyPr/>
                    <a:lstStyle/>
                    <a:p>
                      <a:pPr algn="ctr"/>
                      <a:r>
                        <a:rPr sz="1600" b="1">
                          <a:solidFill>
                            <a:srgbClr val="1F2933"/>
                          </a:solidFill>
                          <a:latin typeface="Arial"/>
                        </a:rPr>
                        <a:t>v · x</a:t>
                      </a:r>
                    </a:p>
                  </a:txBody>
                  <a:tcPr marL="64008" marR="64008" anchor="ctr">
                    <a:solidFill>
                      <a:srgbClr val="F2F4F6"/>
                    </a:solidFill>
                  </a:tcPr>
                </a:tc>
                <a:tc>
                  <a:txBody>
                    <a:bodyPr/>
                    <a:lstStyle/>
                    <a:p>
                      <a:pPr algn="ctr"/>
                      <a:r>
                        <a:rPr sz="1600" b="1">
                          <a:solidFill>
                            <a:srgbClr val="1F2933"/>
                          </a:solidFill>
                          <a:latin typeface="Arial"/>
                        </a:rPr>
                        <a:t>Guess</a:t>
                      </a:r>
                    </a:p>
                  </a:txBody>
                  <a:tcPr marL="64008" marR="64008" anchor="ctr">
                    <a:solidFill>
                      <a:srgbClr val="F2F4F6"/>
                    </a:solidFill>
                  </a:tcPr>
                </a:tc>
                <a:tc>
                  <a:txBody>
                    <a:bodyPr/>
                    <a:lstStyle/>
                    <a:p>
                      <a:pPr algn="ctr"/>
                      <a:r>
                        <a:rPr sz="1600" b="1">
                          <a:solidFill>
                            <a:srgbClr val="1F2933"/>
                          </a:solidFill>
                          <a:latin typeface="Arial"/>
                        </a:rPr>
                        <a:t>Right?</a:t>
                      </a:r>
                    </a:p>
                  </a:txBody>
                  <a:tcPr marL="64008" marR="64008" anchor="ctr">
                    <a:solidFill>
                      <a:srgbClr val="F2F4F6"/>
                    </a:solidFill>
                  </a:tcPr>
                </a:tc>
                <a:tc>
                  <a:txBody>
                    <a:bodyPr/>
                    <a:lstStyle/>
                    <a:p>
                      <a:pPr algn="ctr"/>
                      <a:r>
                        <a:rPr sz="1600" b="1">
                          <a:solidFill>
                            <a:srgbClr val="1F2933"/>
                          </a:solidFill>
                          <a:latin typeface="Arial"/>
                        </a:rPr>
                        <a:t>v after</a:t>
                      </a:r>
                    </a:p>
                  </a:txBody>
                  <a:tcPr marL="64008" marR="64008" anchor="ctr">
                    <a:solidFill>
                      <a:srgbClr val="F2F4F6"/>
                    </a:solidFill>
                  </a:tcPr>
                </a:tc>
                <a:extLst>
                  <a:ext uri="{0D108BD9-81ED-4DB2-BD59-A6C34878D82A}">
                    <a16:rowId xmlns:a16="http://schemas.microsoft.com/office/drawing/2014/main" val="10000"/>
                  </a:ext>
                </a:extLst>
              </a:tr>
              <a:tr h="420624">
                <a:tc>
                  <a:txBody>
                    <a:bodyPr/>
                    <a:lstStyle/>
                    <a:p>
                      <a:pPr algn="l"/>
                      <a:r>
                        <a:rPr sz="1600" b="0">
                          <a:solidFill>
                            <a:srgbClr val="1F2933"/>
                          </a:solidFill>
                          <a:latin typeface="Arial"/>
                        </a:rPr>
                        <a:t>1 Iron Duke</a:t>
                      </a:r>
                    </a:p>
                  </a:txBody>
                  <a:tcPr marL="64008" marR="64008" anchor="ctr">
                    <a:solidFill>
                      <a:srgbClr val="FBE9DD"/>
                    </a:solidFill>
                  </a:tcPr>
                </a:tc>
                <a:tc>
                  <a:txBody>
                    <a:bodyPr/>
                    <a:lstStyle/>
                    <a:p>
                      <a:pPr algn="ctr"/>
                      <a:r>
                        <a:rPr sz="1600" b="0">
                          <a:solidFill>
                            <a:srgbClr val="1F2933"/>
                          </a:solidFill>
                          <a:latin typeface="Courier New"/>
                        </a:rPr>
                        <a:t>(2, −1)</a:t>
                      </a:r>
                    </a:p>
                  </a:txBody>
                  <a:tcPr marL="64008" marR="64008" anchor="ctr">
                    <a:solidFill>
                      <a:srgbClr val="FBE9DD"/>
                    </a:solidFill>
                  </a:tcPr>
                </a:tc>
                <a:tc>
                  <a:txBody>
                    <a:bodyPr/>
                    <a:lstStyle/>
                    <a:p>
                      <a:pPr algn="ctr"/>
                      <a:r>
                        <a:rPr sz="1600" b="0">
                          <a:solidFill>
                            <a:srgbClr val="1F2933"/>
                          </a:solidFill>
                          <a:latin typeface="Arial"/>
                        </a:rPr>
                        <a:t>−1</a:t>
                      </a:r>
                    </a:p>
                  </a:txBody>
                  <a:tcPr marL="64008" marR="64008" anchor="ctr">
                    <a:solidFill>
                      <a:srgbClr val="FBE9DD"/>
                    </a:solidFill>
                  </a:tcPr>
                </a:tc>
                <a:tc>
                  <a:txBody>
                    <a:bodyPr/>
                    <a:lstStyle/>
                    <a:p>
                      <a:pPr algn="ctr"/>
                      <a:r>
                        <a:rPr sz="1600" b="0">
                          <a:solidFill>
                            <a:srgbClr val="1F2933"/>
                          </a:solidFill>
                          <a:latin typeface="Arial"/>
                        </a:rPr>
                        <a:t>0</a:t>
                      </a:r>
                    </a:p>
                  </a:txBody>
                  <a:tcPr marL="64008" marR="64008" anchor="ctr">
                    <a:solidFill>
                      <a:srgbClr val="FBE9DD"/>
                    </a:solidFill>
                  </a:tcPr>
                </a:tc>
                <a:tc>
                  <a:txBody>
                    <a:bodyPr/>
                    <a:lstStyle/>
                    <a:p>
                      <a:pPr algn="ctr"/>
                      <a:r>
                        <a:rPr sz="1600" b="0">
                          <a:solidFill>
                            <a:srgbClr val="1F2933"/>
                          </a:solidFill>
                          <a:latin typeface="Arial"/>
                        </a:rPr>
                        <a:t>tie</a:t>
                      </a:r>
                    </a:p>
                  </a:txBody>
                  <a:tcPr marL="64008" marR="64008" anchor="ctr">
                    <a:solidFill>
                      <a:srgbClr val="FBE9DD"/>
                    </a:solidFill>
                  </a:tcPr>
                </a:tc>
                <a:tc>
                  <a:txBody>
                    <a:bodyPr/>
                    <a:lstStyle/>
                    <a:p>
                      <a:pPr algn="ctr"/>
                      <a:r>
                        <a:rPr sz="1600" b="0">
                          <a:solidFill>
                            <a:srgbClr val="1F2933"/>
                          </a:solidFill>
                          <a:latin typeface="Arial"/>
                        </a:rPr>
                        <a:t>✗</a:t>
                      </a:r>
                    </a:p>
                  </a:txBody>
                  <a:tcPr marL="64008" marR="64008" anchor="ctr">
                    <a:solidFill>
                      <a:srgbClr val="FBE9DD"/>
                    </a:solidFill>
                  </a:tcPr>
                </a:tc>
                <a:tc>
                  <a:txBody>
                    <a:bodyPr/>
                    <a:lstStyle/>
                    <a:p>
                      <a:pPr algn="ctr"/>
                      <a:r>
                        <a:rPr sz="1600" b="0">
                          <a:solidFill>
                            <a:srgbClr val="1F2933"/>
                          </a:solidFill>
                          <a:latin typeface="Courier New"/>
                        </a:rPr>
                        <a:t>(−2, 1)</a:t>
                      </a:r>
                    </a:p>
                  </a:txBody>
                  <a:tcPr marL="64008" marR="64008" anchor="ctr">
                    <a:solidFill>
                      <a:srgbClr val="FBE9DD"/>
                    </a:solidFill>
                  </a:tcPr>
                </a:tc>
                <a:extLst>
                  <a:ext uri="{0D108BD9-81ED-4DB2-BD59-A6C34878D82A}">
                    <a16:rowId xmlns:a16="http://schemas.microsoft.com/office/drawing/2014/main" val="10001"/>
                  </a:ext>
                </a:extLst>
              </a:tr>
              <a:tr h="420624">
                <a:tc>
                  <a:txBody>
                    <a:bodyPr/>
                    <a:lstStyle/>
                    <a:p>
                      <a:pPr algn="l"/>
                      <a:r>
                        <a:rPr sz="1600" b="0">
                          <a:solidFill>
                            <a:srgbClr val="1F2933"/>
                          </a:solidFill>
                          <a:latin typeface="Arial"/>
                        </a:rPr>
                        <a:t>2 Little Comet</a:t>
                      </a:r>
                    </a:p>
                  </a:txBody>
                  <a:tcPr marL="64008" marR="64008" anchor="ctr">
                    <a:solidFill>
                      <a:srgbClr val="FFFFFF"/>
                    </a:solidFill>
                  </a:tcPr>
                </a:tc>
                <a:tc>
                  <a:txBody>
                    <a:bodyPr/>
                    <a:lstStyle/>
                    <a:p>
                      <a:pPr algn="ctr"/>
                      <a:r>
                        <a:rPr sz="1600" b="0">
                          <a:solidFill>
                            <a:srgbClr val="1F2933"/>
                          </a:solidFill>
                          <a:latin typeface="Courier New"/>
                        </a:rPr>
                        <a:t>(−2, −1)</a:t>
                      </a:r>
                    </a:p>
                  </a:txBody>
                  <a:tcPr marL="64008" marR="64008" anchor="ctr">
                    <a:solidFill>
                      <a:srgbClr val="FFFFFF"/>
                    </a:solidFill>
                  </a:tcPr>
                </a:tc>
                <a:tc>
                  <a:txBody>
                    <a:bodyPr/>
                    <a:lstStyle/>
                    <a:p>
                      <a:pPr algn="ctr"/>
                      <a:r>
                        <a:rPr sz="1600" b="0">
                          <a:solidFill>
                            <a:srgbClr val="1F2933"/>
                          </a:solidFill>
                          <a:latin typeface="Arial"/>
                        </a:rPr>
                        <a:t>+1</a:t>
                      </a:r>
                    </a:p>
                  </a:txBody>
                  <a:tcPr marL="64008" marR="64008" anchor="ctr">
                    <a:solidFill>
                      <a:srgbClr val="FFFFFF"/>
                    </a:solidFill>
                  </a:tcPr>
                </a:tc>
                <a:tc>
                  <a:txBody>
                    <a:bodyPr/>
                    <a:lstStyle/>
                    <a:p>
                      <a:pPr algn="ctr"/>
                      <a:r>
                        <a:rPr sz="1600" b="0">
                          <a:solidFill>
                            <a:srgbClr val="1F2933"/>
                          </a:solidFill>
                          <a:latin typeface="Arial"/>
                        </a:rPr>
                        <a:t>3</a:t>
                      </a:r>
                    </a:p>
                  </a:txBody>
                  <a:tcPr marL="64008" marR="64008" anchor="ctr">
                    <a:solidFill>
                      <a:srgbClr val="FFFFFF"/>
                    </a:solidFill>
                  </a:tcPr>
                </a:tc>
                <a:tc>
                  <a:txBody>
                    <a:bodyPr/>
                    <a:lstStyle/>
                    <a:p>
                      <a:pPr algn="ctr"/>
                      <a:r>
                        <a:rPr sz="1600" b="0">
                          <a:solidFill>
                            <a:srgbClr val="1F2933"/>
                          </a:solidFill>
                          <a:latin typeface="Arial"/>
                        </a:rPr>
                        <a:t>win</a:t>
                      </a:r>
                    </a:p>
                  </a:txBody>
                  <a:tcPr marL="64008" marR="64008" anchor="ctr">
                    <a:solidFill>
                      <a:srgbClr val="FFFFFF"/>
                    </a:solidFill>
                  </a:tcPr>
                </a:tc>
                <a:tc>
                  <a:txBody>
                    <a:bodyPr/>
                    <a:lstStyle/>
                    <a:p>
                      <a:pPr algn="ctr"/>
                      <a:r>
                        <a:rPr sz="1600" b="0">
                          <a:solidFill>
                            <a:srgbClr val="1F2933"/>
                          </a:solidFill>
                          <a:latin typeface="Arial"/>
                        </a:rPr>
                        <a:t>✓</a:t>
                      </a:r>
                    </a:p>
                  </a:txBody>
                  <a:tcPr marL="64008" marR="64008" anchor="ctr">
                    <a:solidFill>
                      <a:srgbClr val="FFFFFF"/>
                    </a:solidFill>
                  </a:tcPr>
                </a:tc>
                <a:tc>
                  <a:txBody>
                    <a:bodyPr/>
                    <a:lstStyle/>
                    <a:p>
                      <a:pPr algn="ctr"/>
                      <a:r>
                        <a:rPr sz="1600" b="0">
                          <a:solidFill>
                            <a:srgbClr val="1F2933"/>
                          </a:solidFill>
                          <a:latin typeface="Courier New"/>
                        </a:rPr>
                        <a:t>(−2, 1)</a:t>
                      </a:r>
                    </a:p>
                  </a:txBody>
                  <a:tcPr marL="64008" marR="64008" anchor="ctr">
                    <a:solidFill>
                      <a:srgbClr val="FFFFFF"/>
                    </a:solidFill>
                  </a:tcPr>
                </a:tc>
                <a:extLst>
                  <a:ext uri="{0D108BD9-81ED-4DB2-BD59-A6C34878D82A}">
                    <a16:rowId xmlns:a16="http://schemas.microsoft.com/office/drawing/2014/main" val="10002"/>
                  </a:ext>
                </a:extLst>
              </a:tr>
              <a:tr h="420624">
                <a:tc>
                  <a:txBody>
                    <a:bodyPr/>
                    <a:lstStyle/>
                    <a:p>
                      <a:pPr algn="l"/>
                      <a:r>
                        <a:rPr sz="1600" b="0">
                          <a:solidFill>
                            <a:srgbClr val="1F2933"/>
                          </a:solidFill>
                          <a:latin typeface="Arial"/>
                        </a:rPr>
                        <a:t>3 Old Timer</a:t>
                      </a:r>
                    </a:p>
                  </a:txBody>
                  <a:tcPr marL="64008" marR="64008" anchor="ctr">
                    <a:solidFill>
                      <a:srgbClr val="FFFFFF"/>
                    </a:solidFill>
                  </a:tcPr>
                </a:tc>
                <a:tc>
                  <a:txBody>
                    <a:bodyPr/>
                    <a:lstStyle/>
                    <a:p>
                      <a:pPr algn="ctr"/>
                      <a:r>
                        <a:rPr sz="1600" b="0">
                          <a:solidFill>
                            <a:srgbClr val="1F2933"/>
                          </a:solidFill>
                          <a:latin typeface="Courier New"/>
                        </a:rPr>
                        <a:t>(2, 0)</a:t>
                      </a:r>
                    </a:p>
                  </a:txBody>
                  <a:tcPr marL="64008" marR="64008" anchor="ctr">
                    <a:solidFill>
                      <a:srgbClr val="FFFFFF"/>
                    </a:solidFill>
                  </a:tcPr>
                </a:tc>
                <a:tc>
                  <a:txBody>
                    <a:bodyPr/>
                    <a:lstStyle/>
                    <a:p>
                      <a:pPr algn="ctr"/>
                      <a:r>
                        <a:rPr sz="1600" b="0">
                          <a:solidFill>
                            <a:srgbClr val="1F2933"/>
                          </a:solidFill>
                          <a:latin typeface="Arial"/>
                        </a:rPr>
                        <a:t>−1</a:t>
                      </a:r>
                    </a:p>
                  </a:txBody>
                  <a:tcPr marL="64008" marR="64008" anchor="ctr">
                    <a:solidFill>
                      <a:srgbClr val="FFFFFF"/>
                    </a:solidFill>
                  </a:tcPr>
                </a:tc>
                <a:tc>
                  <a:txBody>
                    <a:bodyPr/>
                    <a:lstStyle/>
                    <a:p>
                      <a:pPr algn="ctr"/>
                      <a:r>
                        <a:rPr sz="1600" b="0">
                          <a:solidFill>
                            <a:srgbClr val="1F2933"/>
                          </a:solidFill>
                          <a:latin typeface="Arial"/>
                        </a:rPr>
                        <a:t>−4</a:t>
                      </a:r>
                    </a:p>
                  </a:txBody>
                  <a:tcPr marL="64008" marR="64008" anchor="ctr">
                    <a:solidFill>
                      <a:srgbClr val="FFFFFF"/>
                    </a:solidFill>
                  </a:tcPr>
                </a:tc>
                <a:tc>
                  <a:txBody>
                    <a:bodyPr/>
                    <a:lstStyle/>
                    <a:p>
                      <a:pPr algn="ctr"/>
                      <a:r>
                        <a:rPr sz="1600" b="0">
                          <a:solidFill>
                            <a:srgbClr val="1F2933"/>
                          </a:solidFill>
                          <a:latin typeface="Arial"/>
                        </a:rPr>
                        <a:t>lose</a:t>
                      </a:r>
                    </a:p>
                  </a:txBody>
                  <a:tcPr marL="64008" marR="64008" anchor="ctr">
                    <a:solidFill>
                      <a:srgbClr val="FFFFFF"/>
                    </a:solidFill>
                  </a:tcPr>
                </a:tc>
                <a:tc>
                  <a:txBody>
                    <a:bodyPr/>
                    <a:lstStyle/>
                    <a:p>
                      <a:pPr algn="ctr"/>
                      <a:r>
                        <a:rPr sz="1600" b="0">
                          <a:solidFill>
                            <a:srgbClr val="1F2933"/>
                          </a:solidFill>
                          <a:latin typeface="Arial"/>
                        </a:rPr>
                        <a:t>✓</a:t>
                      </a:r>
                    </a:p>
                  </a:txBody>
                  <a:tcPr marL="64008" marR="64008" anchor="ctr">
                    <a:solidFill>
                      <a:srgbClr val="FFFFFF"/>
                    </a:solidFill>
                  </a:tcPr>
                </a:tc>
                <a:tc>
                  <a:txBody>
                    <a:bodyPr/>
                    <a:lstStyle/>
                    <a:p>
                      <a:pPr algn="ctr"/>
                      <a:r>
                        <a:rPr sz="1600" b="0">
                          <a:solidFill>
                            <a:srgbClr val="1F2933"/>
                          </a:solidFill>
                          <a:latin typeface="Courier New"/>
                        </a:rPr>
                        <a:t>(−2, 1)</a:t>
                      </a:r>
                    </a:p>
                  </a:txBody>
                  <a:tcPr marL="64008" marR="64008" anchor="ctr">
                    <a:solidFill>
                      <a:srgbClr val="FFFFFF"/>
                    </a:solidFill>
                  </a:tcPr>
                </a:tc>
                <a:extLst>
                  <a:ext uri="{0D108BD9-81ED-4DB2-BD59-A6C34878D82A}">
                    <a16:rowId xmlns:a16="http://schemas.microsoft.com/office/drawing/2014/main" val="10003"/>
                  </a:ext>
                </a:extLst>
              </a:tr>
              <a:tr h="420624">
                <a:tc>
                  <a:txBody>
                    <a:bodyPr/>
                    <a:lstStyle/>
                    <a:p>
                      <a:pPr algn="l"/>
                      <a:r>
                        <a:rPr sz="1600" b="0">
                          <a:solidFill>
                            <a:srgbClr val="1F2933"/>
                          </a:solidFill>
                          <a:latin typeface="Arial"/>
                        </a:rPr>
                        <a:t>4 Big Ben</a:t>
                      </a:r>
                    </a:p>
                  </a:txBody>
                  <a:tcPr marL="64008" marR="64008" anchor="ctr">
                    <a:solidFill>
                      <a:srgbClr val="FFFFFF"/>
                    </a:solidFill>
                  </a:tcPr>
                </a:tc>
                <a:tc>
                  <a:txBody>
                    <a:bodyPr/>
                    <a:lstStyle/>
                    <a:p>
                      <a:pPr algn="ctr"/>
                      <a:r>
                        <a:rPr sz="1600" b="0">
                          <a:solidFill>
                            <a:srgbClr val="1F2933"/>
                          </a:solidFill>
                          <a:latin typeface="Courier New"/>
                        </a:rPr>
                        <a:t>(2, 1)</a:t>
                      </a:r>
                    </a:p>
                  </a:txBody>
                  <a:tcPr marL="64008" marR="64008" anchor="ctr">
                    <a:solidFill>
                      <a:srgbClr val="FFFFFF"/>
                    </a:solidFill>
                  </a:tcPr>
                </a:tc>
                <a:tc>
                  <a:txBody>
                    <a:bodyPr/>
                    <a:lstStyle/>
                    <a:p>
                      <a:pPr algn="ctr"/>
                      <a:r>
                        <a:rPr sz="1600" b="0">
                          <a:solidFill>
                            <a:srgbClr val="1F2933"/>
                          </a:solidFill>
                          <a:latin typeface="Arial"/>
                        </a:rPr>
                        <a:t>−1</a:t>
                      </a:r>
                    </a:p>
                  </a:txBody>
                  <a:tcPr marL="64008" marR="64008" anchor="ctr">
                    <a:solidFill>
                      <a:srgbClr val="FFFFFF"/>
                    </a:solidFill>
                  </a:tcPr>
                </a:tc>
                <a:tc>
                  <a:txBody>
                    <a:bodyPr/>
                    <a:lstStyle/>
                    <a:p>
                      <a:pPr algn="ctr"/>
                      <a:r>
                        <a:rPr sz="1600" b="0">
                          <a:solidFill>
                            <a:srgbClr val="1F2933"/>
                          </a:solidFill>
                          <a:latin typeface="Arial"/>
                        </a:rPr>
                        <a:t>−3</a:t>
                      </a:r>
                    </a:p>
                  </a:txBody>
                  <a:tcPr marL="64008" marR="64008" anchor="ctr">
                    <a:solidFill>
                      <a:srgbClr val="FFFFFF"/>
                    </a:solidFill>
                  </a:tcPr>
                </a:tc>
                <a:tc>
                  <a:txBody>
                    <a:bodyPr/>
                    <a:lstStyle/>
                    <a:p>
                      <a:pPr algn="ctr"/>
                      <a:r>
                        <a:rPr sz="1600" b="0">
                          <a:solidFill>
                            <a:srgbClr val="1F2933"/>
                          </a:solidFill>
                          <a:latin typeface="Arial"/>
                        </a:rPr>
                        <a:t>lose</a:t>
                      </a:r>
                    </a:p>
                  </a:txBody>
                  <a:tcPr marL="64008" marR="64008" anchor="ctr">
                    <a:solidFill>
                      <a:srgbClr val="FFFFFF"/>
                    </a:solidFill>
                  </a:tcPr>
                </a:tc>
                <a:tc>
                  <a:txBody>
                    <a:bodyPr/>
                    <a:lstStyle/>
                    <a:p>
                      <a:pPr algn="ctr"/>
                      <a:r>
                        <a:rPr sz="1600" b="0">
                          <a:solidFill>
                            <a:srgbClr val="1F2933"/>
                          </a:solidFill>
                          <a:latin typeface="Arial"/>
                        </a:rPr>
                        <a:t>✓</a:t>
                      </a:r>
                    </a:p>
                  </a:txBody>
                  <a:tcPr marL="64008" marR="64008" anchor="ctr">
                    <a:solidFill>
                      <a:srgbClr val="FFFFFF"/>
                    </a:solidFill>
                  </a:tcPr>
                </a:tc>
                <a:tc>
                  <a:txBody>
                    <a:bodyPr/>
                    <a:lstStyle/>
                    <a:p>
                      <a:pPr algn="ctr"/>
                      <a:r>
                        <a:rPr sz="1600" b="0">
                          <a:solidFill>
                            <a:srgbClr val="1F2933"/>
                          </a:solidFill>
                          <a:latin typeface="Courier New"/>
                        </a:rPr>
                        <a:t>(−2, 1)</a:t>
                      </a:r>
                    </a:p>
                  </a:txBody>
                  <a:tcPr marL="64008" marR="64008" anchor="ctr">
                    <a:solidFill>
                      <a:srgbClr val="FFFFFF"/>
                    </a:solidFill>
                  </a:tcPr>
                </a:tc>
                <a:extLst>
                  <a:ext uri="{0D108BD9-81ED-4DB2-BD59-A6C34878D82A}">
                    <a16:rowId xmlns:a16="http://schemas.microsoft.com/office/drawing/2014/main" val="10004"/>
                  </a:ext>
                </a:extLst>
              </a:tr>
              <a:tr h="420624">
                <a:tc>
                  <a:txBody>
                    <a:bodyPr/>
                    <a:lstStyle/>
                    <a:p>
                      <a:pPr algn="l"/>
                      <a:r>
                        <a:rPr sz="1600" b="0">
                          <a:solidFill>
                            <a:srgbClr val="1F2933"/>
                          </a:solidFill>
                          <a:latin typeface="Arial"/>
                        </a:rPr>
                        <a:t>5 Featherweight</a:t>
                      </a:r>
                    </a:p>
                  </a:txBody>
                  <a:tcPr marL="64008" marR="64008" anchor="ctr">
                    <a:solidFill>
                      <a:srgbClr val="FBE9DD"/>
                    </a:solidFill>
                  </a:tcPr>
                </a:tc>
                <a:tc>
                  <a:txBody>
                    <a:bodyPr/>
                    <a:lstStyle/>
                    <a:p>
                      <a:pPr algn="ctr"/>
                      <a:r>
                        <a:rPr sz="1600" b="0">
                          <a:solidFill>
                            <a:srgbClr val="1F2933"/>
                          </a:solidFill>
                          <a:latin typeface="Courier New"/>
                        </a:rPr>
                        <a:t>(0, −2)</a:t>
                      </a:r>
                    </a:p>
                  </a:txBody>
                  <a:tcPr marL="64008" marR="64008" anchor="ctr">
                    <a:solidFill>
                      <a:srgbClr val="FBE9DD"/>
                    </a:solidFill>
                  </a:tcPr>
                </a:tc>
                <a:tc>
                  <a:txBody>
                    <a:bodyPr/>
                    <a:lstStyle/>
                    <a:p>
                      <a:pPr algn="ctr"/>
                      <a:r>
                        <a:rPr sz="1600" b="0">
                          <a:solidFill>
                            <a:srgbClr val="1F2933"/>
                          </a:solidFill>
                          <a:latin typeface="Arial"/>
                        </a:rPr>
                        <a:t>+1</a:t>
                      </a:r>
                    </a:p>
                  </a:txBody>
                  <a:tcPr marL="64008" marR="64008" anchor="ctr">
                    <a:solidFill>
                      <a:srgbClr val="FBE9DD"/>
                    </a:solidFill>
                  </a:tcPr>
                </a:tc>
                <a:tc>
                  <a:txBody>
                    <a:bodyPr/>
                    <a:lstStyle/>
                    <a:p>
                      <a:pPr algn="ctr"/>
                      <a:r>
                        <a:rPr sz="1600" b="0">
                          <a:solidFill>
                            <a:srgbClr val="1F2933"/>
                          </a:solidFill>
                          <a:latin typeface="Arial"/>
                        </a:rPr>
                        <a:t>−2</a:t>
                      </a:r>
                    </a:p>
                  </a:txBody>
                  <a:tcPr marL="64008" marR="64008" anchor="ctr">
                    <a:solidFill>
                      <a:srgbClr val="FBE9DD"/>
                    </a:solidFill>
                  </a:tcPr>
                </a:tc>
                <a:tc>
                  <a:txBody>
                    <a:bodyPr/>
                    <a:lstStyle/>
                    <a:p>
                      <a:pPr algn="ctr"/>
                      <a:r>
                        <a:rPr sz="1600" b="0">
                          <a:solidFill>
                            <a:srgbClr val="1F2933"/>
                          </a:solidFill>
                          <a:latin typeface="Arial"/>
                        </a:rPr>
                        <a:t>lose</a:t>
                      </a:r>
                    </a:p>
                  </a:txBody>
                  <a:tcPr marL="64008" marR="64008" anchor="ctr">
                    <a:solidFill>
                      <a:srgbClr val="FBE9DD"/>
                    </a:solidFill>
                  </a:tcPr>
                </a:tc>
                <a:tc>
                  <a:txBody>
                    <a:bodyPr/>
                    <a:lstStyle/>
                    <a:p>
                      <a:pPr algn="ctr"/>
                      <a:r>
                        <a:rPr sz="1600" b="0">
                          <a:solidFill>
                            <a:srgbClr val="1F2933"/>
                          </a:solidFill>
                          <a:latin typeface="Arial"/>
                        </a:rPr>
                        <a:t>✗</a:t>
                      </a:r>
                    </a:p>
                  </a:txBody>
                  <a:tcPr marL="64008" marR="64008" anchor="ctr">
                    <a:solidFill>
                      <a:srgbClr val="FBE9DD"/>
                    </a:solidFill>
                  </a:tcPr>
                </a:tc>
                <a:tc>
                  <a:txBody>
                    <a:bodyPr/>
                    <a:lstStyle/>
                    <a:p>
                      <a:pPr algn="ctr"/>
                      <a:r>
                        <a:rPr sz="1600" b="0">
                          <a:solidFill>
                            <a:srgbClr val="1F2933"/>
                          </a:solidFill>
                          <a:latin typeface="Courier New"/>
                        </a:rPr>
                        <a:t>(−2, −1)</a:t>
                      </a:r>
                    </a:p>
                  </a:txBody>
                  <a:tcPr marL="64008" marR="64008" anchor="ctr">
                    <a:solidFill>
                      <a:srgbClr val="FBE9DD"/>
                    </a:solidFill>
                  </a:tcPr>
                </a:tc>
                <a:extLst>
                  <a:ext uri="{0D108BD9-81ED-4DB2-BD59-A6C34878D82A}">
                    <a16:rowId xmlns:a16="http://schemas.microsoft.com/office/drawing/2014/main" val="10005"/>
                  </a:ext>
                </a:extLst>
              </a:tr>
              <a:tr h="420624">
                <a:tc>
                  <a:txBody>
                    <a:bodyPr/>
                    <a:lstStyle/>
                    <a:p>
                      <a:pPr algn="l"/>
                      <a:r>
                        <a:rPr sz="1600" b="0">
                          <a:solidFill>
                            <a:srgbClr val="1F2933"/>
                          </a:solidFill>
                          <a:latin typeface="Arial"/>
                        </a:rPr>
                        <a:t>6 Swift Kid</a:t>
                      </a:r>
                    </a:p>
                  </a:txBody>
                  <a:tcPr marL="64008" marR="64008" anchor="ctr">
                    <a:solidFill>
                      <a:srgbClr val="FFFFFF"/>
                    </a:solidFill>
                  </a:tcPr>
                </a:tc>
                <a:tc>
                  <a:txBody>
                    <a:bodyPr/>
                    <a:lstStyle/>
                    <a:p>
                      <a:pPr algn="ctr"/>
                      <a:r>
                        <a:rPr sz="1600" b="0">
                          <a:solidFill>
                            <a:srgbClr val="1F2933"/>
                          </a:solidFill>
                          <a:latin typeface="Courier New"/>
                        </a:rPr>
                        <a:t>(0, −1)</a:t>
                      </a:r>
                    </a:p>
                  </a:txBody>
                  <a:tcPr marL="64008" marR="64008" anchor="ctr">
                    <a:solidFill>
                      <a:srgbClr val="FFFFFF"/>
                    </a:solidFill>
                  </a:tcPr>
                </a:tc>
                <a:tc>
                  <a:txBody>
                    <a:bodyPr/>
                    <a:lstStyle/>
                    <a:p>
                      <a:pPr algn="ctr"/>
                      <a:r>
                        <a:rPr sz="1600" b="0">
                          <a:solidFill>
                            <a:srgbClr val="1F2933"/>
                          </a:solidFill>
                          <a:latin typeface="Arial"/>
                        </a:rPr>
                        <a:t>+1</a:t>
                      </a:r>
                    </a:p>
                  </a:txBody>
                  <a:tcPr marL="64008" marR="64008" anchor="ctr">
                    <a:solidFill>
                      <a:srgbClr val="FFFFFF"/>
                    </a:solidFill>
                  </a:tcPr>
                </a:tc>
                <a:tc>
                  <a:txBody>
                    <a:bodyPr/>
                    <a:lstStyle/>
                    <a:p>
                      <a:pPr algn="ctr"/>
                      <a:r>
                        <a:rPr sz="1600" b="0">
                          <a:solidFill>
                            <a:srgbClr val="1F2933"/>
                          </a:solidFill>
                          <a:latin typeface="Arial"/>
                        </a:rPr>
                        <a:t>1</a:t>
                      </a:r>
                    </a:p>
                  </a:txBody>
                  <a:tcPr marL="64008" marR="64008" anchor="ctr">
                    <a:solidFill>
                      <a:srgbClr val="FFFFFF"/>
                    </a:solidFill>
                  </a:tcPr>
                </a:tc>
                <a:tc>
                  <a:txBody>
                    <a:bodyPr/>
                    <a:lstStyle/>
                    <a:p>
                      <a:pPr algn="ctr"/>
                      <a:r>
                        <a:rPr sz="1600" b="0">
                          <a:solidFill>
                            <a:srgbClr val="1F2933"/>
                          </a:solidFill>
                          <a:latin typeface="Arial"/>
                        </a:rPr>
                        <a:t>win</a:t>
                      </a:r>
                    </a:p>
                  </a:txBody>
                  <a:tcPr marL="64008" marR="64008" anchor="ctr">
                    <a:solidFill>
                      <a:srgbClr val="FFFFFF"/>
                    </a:solidFill>
                  </a:tcPr>
                </a:tc>
                <a:tc>
                  <a:txBody>
                    <a:bodyPr/>
                    <a:lstStyle/>
                    <a:p>
                      <a:pPr algn="ctr"/>
                      <a:r>
                        <a:rPr sz="1600" b="0">
                          <a:solidFill>
                            <a:srgbClr val="1F2933"/>
                          </a:solidFill>
                          <a:latin typeface="Arial"/>
                        </a:rPr>
                        <a:t>✓</a:t>
                      </a:r>
                    </a:p>
                  </a:txBody>
                  <a:tcPr marL="64008" marR="64008" anchor="ctr">
                    <a:solidFill>
                      <a:srgbClr val="FFFFFF"/>
                    </a:solidFill>
                  </a:tcPr>
                </a:tc>
                <a:tc>
                  <a:txBody>
                    <a:bodyPr/>
                    <a:lstStyle/>
                    <a:p>
                      <a:pPr algn="ctr"/>
                      <a:r>
                        <a:rPr sz="1600" b="0">
                          <a:solidFill>
                            <a:srgbClr val="1F2933"/>
                          </a:solidFill>
                          <a:latin typeface="Courier New"/>
                        </a:rPr>
                        <a:t>(−2, −1)</a:t>
                      </a:r>
                    </a:p>
                  </a:txBody>
                  <a:tcPr marL="64008" marR="64008" anchor="ctr">
                    <a:solidFill>
                      <a:srgbClr val="FFFFFF"/>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548640" y="5029200"/>
            <a:ext cx="9006840" cy="685800"/>
          </a:xfrm>
          <a:prstGeom prst="rect">
            <a:avLst/>
          </a:prstGeom>
          <a:solidFill>
            <a:srgbClr val="EAF0F8"/>
          </a:solidFill>
          <a:ln>
            <a:noFill/>
          </a:ln>
          <a:effectLst/>
        </p:spPr>
        <p:txBody>
          <a:bodyPr rtlCol="0" anchor="ctr"/>
          <a:lstStyle/>
          <a:p>
            <a:pPr algn="ctr"/>
            <a:endParaRPr/>
          </a:p>
        </p:txBody>
      </p:sp>
      <p:sp>
        <p:nvSpPr>
          <p:cNvPr id="7" name="TextBox 6"/>
          <p:cNvSpPr txBox="1"/>
          <p:nvPr/>
        </p:nvSpPr>
        <p:spPr>
          <a:xfrm>
            <a:off x="777240" y="5029200"/>
            <a:ext cx="8595360" cy="685800"/>
          </a:xfrm>
          <a:prstGeom prst="rect">
            <a:avLst/>
          </a:prstGeom>
          <a:noFill/>
        </p:spPr>
        <p:txBody>
          <a:bodyPr wrap="square" lIns="0" tIns="0" rIns="0" bIns="0" anchor="ctr">
            <a:spAutoFit/>
          </a:bodyPr>
          <a:lstStyle/>
          <a:p>
            <a:pPr algn="l"/>
            <a:r>
              <a:rPr sz="1700" b="1" i="0">
                <a:solidFill>
                  <a:srgbClr val="1F2933"/>
                </a:solidFill>
                <a:latin typeface="Arial"/>
              </a:rPr>
              <a:t>Pass 2:  </a:t>
            </a:r>
            <a:r>
              <a:rPr sz="1700" b="0" i="0">
                <a:solidFill>
                  <a:srgbClr val="1F2933"/>
                </a:solidFill>
                <a:latin typeface="Arial"/>
              </a:rPr>
              <a:t>with v = (−2, −1), all 6 horses are right, so stop.</a:t>
            </a:r>
          </a:p>
        </p:txBody>
      </p:sp>
      <p:sp>
        <p:nvSpPr>
          <p:cNvPr id="8" name="TextBox 7"/>
          <p:cNvSpPr txBox="1"/>
          <p:nvPr/>
        </p:nvSpPr>
        <p:spPr>
          <a:xfrm>
            <a:off x="548640" y="5897880"/>
            <a:ext cx="10972800" cy="365760"/>
          </a:xfrm>
          <a:prstGeom prst="rect">
            <a:avLst/>
          </a:prstGeom>
          <a:noFill/>
        </p:spPr>
        <p:txBody>
          <a:bodyPr wrap="square" lIns="0" tIns="0" rIns="0" bIns="0" anchor="t">
            <a:spAutoFit/>
          </a:bodyPr>
          <a:lstStyle/>
          <a:p>
            <a:pPr algn="l"/>
            <a:r>
              <a:rPr sz="1500" b="0" i="0">
                <a:solidFill>
                  <a:srgbClr val="52606D"/>
                </a:solidFill>
                <a:latin typeface="Arial"/>
              </a:rPr>
              <a:t>Orange rows are mistakes. Only those two rows change v.</a:t>
            </a:r>
          </a:p>
        </p:txBody>
      </p:sp>
      <p:sp>
        <p:nvSpPr>
          <p:cNvPr id="9" name="Rectangle 8"/>
          <p:cNvSpPr/>
          <p:nvPr/>
        </p:nvSpPr>
        <p:spPr>
          <a:xfrm>
            <a:off x="9784080" y="1874519"/>
            <a:ext cx="1874519" cy="2944368"/>
          </a:xfrm>
          <a:prstGeom prst="rect">
            <a:avLst/>
          </a:prstGeom>
          <a:solidFill>
            <a:srgbClr val="1F2933"/>
          </a:solidFill>
          <a:ln>
            <a:noFill/>
          </a:ln>
          <a:effectLst/>
        </p:spPr>
        <p:txBody>
          <a:bodyPr rtlCol="0" anchor="ctr"/>
          <a:lstStyle/>
          <a:p>
            <a:pPr algn="ctr"/>
            <a:endParaRPr/>
          </a:p>
        </p:txBody>
      </p:sp>
      <p:sp>
        <p:nvSpPr>
          <p:cNvPr id="10" name="TextBox 9"/>
          <p:cNvSpPr txBox="1"/>
          <p:nvPr/>
        </p:nvSpPr>
        <p:spPr>
          <a:xfrm>
            <a:off x="9921240" y="2011680"/>
            <a:ext cx="1691640" cy="2743200"/>
          </a:xfrm>
          <a:prstGeom prst="rect">
            <a:avLst/>
          </a:prstGeom>
          <a:noFill/>
        </p:spPr>
        <p:txBody>
          <a:bodyPr wrap="square" lIns="0" tIns="0" rIns="0" bIns="0" anchor="t">
            <a:spAutoFit/>
          </a:bodyPr>
          <a:lstStyle/>
          <a:p>
            <a:pPr algn="l"/>
            <a:r>
              <a:rPr sz="1500" b="1" i="0">
                <a:solidFill>
                  <a:srgbClr val="F2B48C"/>
                </a:solidFill>
                <a:latin typeface="Arial"/>
              </a:rPr>
              <a:t>Update rule</a:t>
            </a:r>
          </a:p>
          <a:p>
            <a:pPr algn="l"/>
            <a:r>
              <a:rPr sz="1700" b="1" i="0">
                <a:solidFill>
                  <a:srgbClr val="FFFFFF"/>
                </a:solidFill>
                <a:latin typeface="Courier New"/>
              </a:rPr>
              <a:t>v ← v + y·x</a:t>
            </a:r>
          </a:p>
          <a:p>
            <a:pPr algn="l"/>
            <a:endParaRPr sz="1700" b="1" i="0">
              <a:solidFill>
                <a:srgbClr val="FFFFFF"/>
              </a:solidFill>
              <a:latin typeface="Courier New"/>
            </a:endParaRPr>
          </a:p>
          <a:p>
            <a:pPr algn="l"/>
            <a:r>
              <a:rPr sz="1300" b="0" i="0">
                <a:solidFill>
                  <a:srgbClr val="C9D1D9"/>
                </a:solidFill>
                <a:latin typeface="Arial"/>
              </a:rPr>
              <a:t>Horse 1 lost (y = −1)</a:t>
            </a:r>
          </a:p>
          <a:p>
            <a:pPr algn="l"/>
            <a:r>
              <a:rPr sz="1400" b="0" i="0">
                <a:solidFill>
                  <a:srgbClr val="FFFFFF"/>
                </a:solidFill>
                <a:latin typeface="Courier New"/>
              </a:rPr>
              <a:t>  (0, 0)</a:t>
            </a:r>
          </a:p>
          <a:p>
            <a:pPr algn="l"/>
            <a:r>
              <a:rPr sz="1400" b="0" i="0">
                <a:solidFill>
                  <a:srgbClr val="FFFFFF"/>
                </a:solidFill>
                <a:latin typeface="Courier New"/>
              </a:rPr>
              <a:t>− (2, −1)</a:t>
            </a:r>
          </a:p>
          <a:p>
            <a:pPr algn="l"/>
            <a:r>
              <a:rPr sz="1400" b="1" i="0">
                <a:solidFill>
                  <a:srgbClr val="FFFFFF"/>
                </a:solidFill>
                <a:latin typeface="Courier New"/>
              </a:rPr>
              <a:t>= (−2, 1)</a:t>
            </a:r>
          </a:p>
          <a:p>
            <a:pPr algn="l"/>
            <a:endParaRPr sz="1400" b="1" i="0">
              <a:solidFill>
                <a:srgbClr val="FFFFFF"/>
              </a:solidFill>
              <a:latin typeface="Courier New"/>
            </a:endParaRPr>
          </a:p>
          <a:p>
            <a:pPr algn="l"/>
            <a:r>
              <a:rPr sz="1300" b="0" i="0">
                <a:solidFill>
                  <a:srgbClr val="C9D1D9"/>
                </a:solidFill>
                <a:latin typeface="Arial"/>
              </a:rPr>
              <a:t>Horse 5 won (y = +1)</a:t>
            </a:r>
          </a:p>
          <a:p>
            <a:pPr algn="l"/>
            <a:r>
              <a:rPr sz="1400" b="0" i="0">
                <a:solidFill>
                  <a:srgbClr val="FFFFFF"/>
                </a:solidFill>
                <a:latin typeface="Courier New"/>
              </a:rPr>
              <a:t>  (−2, 1)</a:t>
            </a:r>
          </a:p>
          <a:p>
            <a:pPr algn="l"/>
            <a:r>
              <a:rPr sz="1400" b="0" i="0">
                <a:solidFill>
                  <a:srgbClr val="FFFFFF"/>
                </a:solidFill>
                <a:latin typeface="Courier New"/>
              </a:rPr>
              <a:t>+ (0, −2)</a:t>
            </a:r>
          </a:p>
          <a:p>
            <a:pPr algn="l"/>
            <a:r>
              <a:rPr sz="1400" b="1" i="0">
                <a:solidFill>
                  <a:srgbClr val="FFFFFF"/>
                </a:solidFill>
                <a:latin typeface="Courier New"/>
              </a:rPr>
              <a:t>= (−2,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How v shifts on each mistake</a:t>
            </a:r>
          </a:p>
        </p:txBody>
      </p:sp>
      <p:pic>
        <p:nvPicPr>
          <p:cNvPr id="4" name="Picture 3" descr="h_shift.png"/>
          <p:cNvPicPr>
            <a:picLocks noChangeAspect="1"/>
          </p:cNvPicPr>
          <p:nvPr/>
        </p:nvPicPr>
        <p:blipFill>
          <a:blip r:embed="rId3"/>
          <a:stretch>
            <a:fillRect/>
          </a:stretch>
        </p:blipFill>
        <p:spPr>
          <a:xfrm>
            <a:off x="502920" y="1508760"/>
            <a:ext cx="11155680" cy="4387901"/>
          </a:xfrm>
          <a:prstGeom prst="rect">
            <a:avLst/>
          </a:prstGeom>
        </p:spPr>
      </p:pic>
      <p:sp>
        <p:nvSpPr>
          <p:cNvPr id="5" name="TextBox 4"/>
          <p:cNvSpPr txBox="1"/>
          <p:nvPr/>
        </p:nvSpPr>
        <p:spPr>
          <a:xfrm>
            <a:off x="548640" y="6172200"/>
            <a:ext cx="11064240" cy="365760"/>
          </a:xfrm>
          <a:prstGeom prst="rect">
            <a:avLst/>
          </a:prstGeom>
          <a:noFill/>
        </p:spPr>
        <p:txBody>
          <a:bodyPr wrap="square" lIns="0" tIns="0" rIns="0" bIns="0" anchor="t">
            <a:spAutoFit/>
          </a:bodyPr>
          <a:lstStyle/>
          <a:p>
            <a:pPr algn="ctr"/>
            <a:r>
              <a:rPr sz="1400" b="0" i="0">
                <a:solidFill>
                  <a:srgbClr val="52606D"/>
                </a:solidFill>
                <a:latin typeface="Arial"/>
              </a:rPr>
              <a:t>Blue side = predicted win. The circled horse is the mistake that moves the 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How it runs, and what it's good and bad at</a:t>
            </a:r>
          </a:p>
        </p:txBody>
      </p:sp>
      <p:sp>
        <p:nvSpPr>
          <p:cNvPr id="4" name="Oval 3"/>
          <p:cNvSpPr/>
          <p:nvPr/>
        </p:nvSpPr>
        <p:spPr>
          <a:xfrm>
            <a:off x="548640" y="1801368"/>
            <a:ext cx="731520" cy="731520"/>
          </a:xfrm>
          <a:prstGeom prst="ellipse">
            <a:avLst/>
          </a:prstGeom>
          <a:solidFill>
            <a:srgbClr val="1F2933"/>
          </a:solidFill>
          <a:ln>
            <a:noFill/>
          </a:ln>
        </p:spPr>
        <p:txBody>
          <a:bodyPr rtlCol="0" anchor="ctr"/>
          <a:lstStyle/>
          <a:p>
            <a:pPr algn="ctr"/>
            <a:endParaRPr/>
          </a:p>
        </p:txBody>
      </p:sp>
      <p:sp>
        <p:nvSpPr>
          <p:cNvPr id="5" name="TextBox 4"/>
          <p:cNvSpPr txBox="1"/>
          <p:nvPr/>
        </p:nvSpPr>
        <p:spPr>
          <a:xfrm>
            <a:off x="548640" y="1801368"/>
            <a:ext cx="731520" cy="731520"/>
          </a:xfrm>
          <a:prstGeom prst="rect">
            <a:avLst/>
          </a:prstGeom>
          <a:noFill/>
        </p:spPr>
        <p:txBody>
          <a:bodyPr wrap="square" lIns="0" tIns="0" rIns="0" bIns="0" anchor="ctr">
            <a:spAutoFit/>
          </a:bodyPr>
          <a:lstStyle/>
          <a:p>
            <a:pPr algn="ctr"/>
            <a:r>
              <a:rPr sz="2000" b="1" i="0">
                <a:solidFill>
                  <a:srgbClr val="FFFFFF"/>
                </a:solidFill>
                <a:latin typeface="Arial"/>
              </a:rPr>
              <a:t>1</a:t>
            </a:r>
          </a:p>
        </p:txBody>
      </p:sp>
      <p:sp>
        <p:nvSpPr>
          <p:cNvPr id="6" name="Right Arrow 5"/>
          <p:cNvSpPr/>
          <p:nvPr/>
        </p:nvSpPr>
        <p:spPr>
          <a:xfrm>
            <a:off x="1389888" y="2011680"/>
            <a:ext cx="384048" cy="320040"/>
          </a:xfrm>
          <a:prstGeom prst="rightArrow">
            <a:avLst/>
          </a:prstGeom>
          <a:solidFill>
            <a:srgbClr val="9AA5B1"/>
          </a:solidFill>
          <a:ln>
            <a:noFill/>
          </a:ln>
          <a:effectLst/>
        </p:spPr>
        <p:txBody>
          <a:bodyPr rtlCol="0" anchor="ctr"/>
          <a:lstStyle/>
          <a:p>
            <a:pPr algn="ctr"/>
            <a:endParaRPr/>
          </a:p>
        </p:txBody>
      </p:sp>
      <p:sp>
        <p:nvSpPr>
          <p:cNvPr id="7" name="Oval 6"/>
          <p:cNvSpPr/>
          <p:nvPr/>
        </p:nvSpPr>
        <p:spPr>
          <a:xfrm>
            <a:off x="1883664" y="1801368"/>
            <a:ext cx="731520" cy="731520"/>
          </a:xfrm>
          <a:prstGeom prst="ellipse">
            <a:avLst/>
          </a:prstGeom>
          <a:solidFill>
            <a:srgbClr val="1F2933"/>
          </a:solidFill>
          <a:ln>
            <a:noFill/>
          </a:ln>
        </p:spPr>
        <p:txBody>
          <a:bodyPr rtlCol="0" anchor="ctr"/>
          <a:lstStyle/>
          <a:p>
            <a:pPr algn="ctr"/>
            <a:endParaRPr/>
          </a:p>
        </p:txBody>
      </p:sp>
      <p:sp>
        <p:nvSpPr>
          <p:cNvPr id="8" name="TextBox 7"/>
          <p:cNvSpPr txBox="1"/>
          <p:nvPr/>
        </p:nvSpPr>
        <p:spPr>
          <a:xfrm>
            <a:off x="1883664" y="1801368"/>
            <a:ext cx="731520" cy="731520"/>
          </a:xfrm>
          <a:prstGeom prst="rect">
            <a:avLst/>
          </a:prstGeom>
          <a:noFill/>
        </p:spPr>
        <p:txBody>
          <a:bodyPr wrap="square" lIns="0" tIns="0" rIns="0" bIns="0" anchor="ctr">
            <a:spAutoFit/>
          </a:bodyPr>
          <a:lstStyle/>
          <a:p>
            <a:pPr algn="ctr"/>
            <a:r>
              <a:rPr sz="2000" b="1" i="0">
                <a:solidFill>
                  <a:srgbClr val="FFFFFF"/>
                </a:solidFill>
                <a:latin typeface="Arial"/>
              </a:rPr>
              <a:t>2</a:t>
            </a:r>
          </a:p>
        </p:txBody>
      </p:sp>
      <p:sp>
        <p:nvSpPr>
          <p:cNvPr id="9" name="Right Arrow 8"/>
          <p:cNvSpPr/>
          <p:nvPr/>
        </p:nvSpPr>
        <p:spPr>
          <a:xfrm>
            <a:off x="2724912" y="2011680"/>
            <a:ext cx="384048" cy="320040"/>
          </a:xfrm>
          <a:prstGeom prst="rightArrow">
            <a:avLst/>
          </a:prstGeom>
          <a:solidFill>
            <a:srgbClr val="9AA5B1"/>
          </a:solidFill>
          <a:ln>
            <a:noFill/>
          </a:ln>
          <a:effectLst/>
        </p:spPr>
        <p:txBody>
          <a:bodyPr rtlCol="0" anchor="ctr"/>
          <a:lstStyle/>
          <a:p>
            <a:pPr algn="ctr"/>
            <a:endParaRPr/>
          </a:p>
        </p:txBody>
      </p:sp>
      <p:sp>
        <p:nvSpPr>
          <p:cNvPr id="10" name="Oval 9"/>
          <p:cNvSpPr/>
          <p:nvPr/>
        </p:nvSpPr>
        <p:spPr>
          <a:xfrm>
            <a:off x="3218688" y="1801368"/>
            <a:ext cx="731520" cy="731520"/>
          </a:xfrm>
          <a:prstGeom prst="ellipse">
            <a:avLst/>
          </a:prstGeom>
          <a:solidFill>
            <a:srgbClr val="1F2933"/>
          </a:solidFill>
          <a:ln>
            <a:noFill/>
          </a:ln>
        </p:spPr>
        <p:txBody>
          <a:bodyPr rtlCol="0" anchor="ctr"/>
          <a:lstStyle/>
          <a:p>
            <a:pPr algn="ctr"/>
            <a:endParaRPr/>
          </a:p>
        </p:txBody>
      </p:sp>
      <p:sp>
        <p:nvSpPr>
          <p:cNvPr id="11" name="TextBox 10"/>
          <p:cNvSpPr txBox="1"/>
          <p:nvPr/>
        </p:nvSpPr>
        <p:spPr>
          <a:xfrm>
            <a:off x="3218688" y="1801368"/>
            <a:ext cx="731520" cy="731520"/>
          </a:xfrm>
          <a:prstGeom prst="rect">
            <a:avLst/>
          </a:prstGeom>
          <a:noFill/>
        </p:spPr>
        <p:txBody>
          <a:bodyPr wrap="square" lIns="0" tIns="0" rIns="0" bIns="0" anchor="ctr">
            <a:spAutoFit/>
          </a:bodyPr>
          <a:lstStyle/>
          <a:p>
            <a:pPr algn="ctr"/>
            <a:r>
              <a:rPr sz="2000" b="1" i="0">
                <a:solidFill>
                  <a:srgbClr val="FFFFFF"/>
                </a:solidFill>
                <a:latin typeface="Arial"/>
              </a:rPr>
              <a:t>3</a:t>
            </a:r>
          </a:p>
        </p:txBody>
      </p:sp>
      <p:sp>
        <p:nvSpPr>
          <p:cNvPr id="12" name="Right Arrow 11"/>
          <p:cNvSpPr/>
          <p:nvPr/>
        </p:nvSpPr>
        <p:spPr>
          <a:xfrm>
            <a:off x="4059936" y="2011680"/>
            <a:ext cx="384048" cy="320040"/>
          </a:xfrm>
          <a:prstGeom prst="rightArrow">
            <a:avLst/>
          </a:prstGeom>
          <a:solidFill>
            <a:srgbClr val="9AA5B1"/>
          </a:solidFill>
          <a:ln>
            <a:noFill/>
          </a:ln>
          <a:effectLst/>
        </p:spPr>
        <p:txBody>
          <a:bodyPr rtlCol="0" anchor="ctr"/>
          <a:lstStyle/>
          <a:p>
            <a:pPr algn="ctr"/>
            <a:endParaRPr/>
          </a:p>
        </p:txBody>
      </p:sp>
      <p:sp>
        <p:nvSpPr>
          <p:cNvPr id="13" name="Oval 12"/>
          <p:cNvSpPr/>
          <p:nvPr/>
        </p:nvSpPr>
        <p:spPr>
          <a:xfrm>
            <a:off x="4553712" y="1801368"/>
            <a:ext cx="731520" cy="731520"/>
          </a:xfrm>
          <a:prstGeom prst="ellipse">
            <a:avLst/>
          </a:prstGeom>
          <a:solidFill>
            <a:srgbClr val="1F2933"/>
          </a:solidFill>
          <a:ln>
            <a:noFill/>
          </a:ln>
        </p:spPr>
        <p:txBody>
          <a:bodyPr rtlCol="0" anchor="ctr"/>
          <a:lstStyle/>
          <a:p>
            <a:pPr algn="ctr"/>
            <a:endParaRPr/>
          </a:p>
        </p:txBody>
      </p:sp>
      <p:sp>
        <p:nvSpPr>
          <p:cNvPr id="14" name="TextBox 13"/>
          <p:cNvSpPr txBox="1"/>
          <p:nvPr/>
        </p:nvSpPr>
        <p:spPr>
          <a:xfrm>
            <a:off x="4553712" y="1801368"/>
            <a:ext cx="731520" cy="731520"/>
          </a:xfrm>
          <a:prstGeom prst="rect">
            <a:avLst/>
          </a:prstGeom>
          <a:noFill/>
        </p:spPr>
        <p:txBody>
          <a:bodyPr wrap="square" lIns="0" tIns="0" rIns="0" bIns="0" anchor="ctr">
            <a:spAutoFit/>
          </a:bodyPr>
          <a:lstStyle/>
          <a:p>
            <a:pPr algn="ctr"/>
            <a:r>
              <a:rPr sz="2000" b="1" i="0">
                <a:solidFill>
                  <a:srgbClr val="FFFFFF"/>
                </a:solidFill>
                <a:latin typeface="Arial"/>
              </a:rPr>
              <a:t>4</a:t>
            </a:r>
          </a:p>
        </p:txBody>
      </p:sp>
      <p:sp>
        <p:nvSpPr>
          <p:cNvPr id="15" name="Right Arrow 14"/>
          <p:cNvSpPr/>
          <p:nvPr/>
        </p:nvSpPr>
        <p:spPr>
          <a:xfrm>
            <a:off x="5394960" y="2011680"/>
            <a:ext cx="384048" cy="320040"/>
          </a:xfrm>
          <a:prstGeom prst="rightArrow">
            <a:avLst/>
          </a:prstGeom>
          <a:solidFill>
            <a:srgbClr val="9AA5B1"/>
          </a:solidFill>
          <a:ln>
            <a:noFill/>
          </a:ln>
          <a:effectLst/>
        </p:spPr>
        <p:txBody>
          <a:bodyPr rtlCol="0" anchor="ctr"/>
          <a:lstStyle/>
          <a:p>
            <a:pPr algn="ctr"/>
            <a:endParaRPr/>
          </a:p>
        </p:txBody>
      </p:sp>
      <p:sp>
        <p:nvSpPr>
          <p:cNvPr id="16" name="Oval 15"/>
          <p:cNvSpPr/>
          <p:nvPr/>
        </p:nvSpPr>
        <p:spPr>
          <a:xfrm>
            <a:off x="5888736" y="1801368"/>
            <a:ext cx="731520" cy="731520"/>
          </a:xfrm>
          <a:prstGeom prst="ellipse">
            <a:avLst/>
          </a:prstGeom>
          <a:solidFill>
            <a:srgbClr val="1F2933"/>
          </a:solidFill>
          <a:ln>
            <a:noFill/>
          </a:ln>
        </p:spPr>
        <p:txBody>
          <a:bodyPr rtlCol="0" anchor="ctr"/>
          <a:lstStyle/>
          <a:p>
            <a:pPr algn="ctr"/>
            <a:endParaRPr/>
          </a:p>
        </p:txBody>
      </p:sp>
      <p:sp>
        <p:nvSpPr>
          <p:cNvPr id="17" name="TextBox 16"/>
          <p:cNvSpPr txBox="1"/>
          <p:nvPr/>
        </p:nvSpPr>
        <p:spPr>
          <a:xfrm>
            <a:off x="5888736" y="1801368"/>
            <a:ext cx="731520" cy="731520"/>
          </a:xfrm>
          <a:prstGeom prst="rect">
            <a:avLst/>
          </a:prstGeom>
          <a:noFill/>
        </p:spPr>
        <p:txBody>
          <a:bodyPr wrap="square" lIns="0" tIns="0" rIns="0" bIns="0" anchor="ctr">
            <a:spAutoFit/>
          </a:bodyPr>
          <a:lstStyle/>
          <a:p>
            <a:pPr algn="ctr"/>
            <a:r>
              <a:rPr sz="2000" b="1" i="0">
                <a:solidFill>
                  <a:srgbClr val="FFFFFF"/>
                </a:solidFill>
                <a:latin typeface="Arial"/>
              </a:rPr>
              <a:t>5</a:t>
            </a:r>
          </a:p>
        </p:txBody>
      </p:sp>
      <p:sp>
        <p:nvSpPr>
          <p:cNvPr id="18" name="Right Arrow 17"/>
          <p:cNvSpPr/>
          <p:nvPr/>
        </p:nvSpPr>
        <p:spPr>
          <a:xfrm>
            <a:off x="6729984" y="2011680"/>
            <a:ext cx="384048" cy="320040"/>
          </a:xfrm>
          <a:prstGeom prst="rightArrow">
            <a:avLst/>
          </a:prstGeom>
          <a:solidFill>
            <a:srgbClr val="9AA5B1"/>
          </a:solidFill>
          <a:ln>
            <a:noFill/>
          </a:ln>
          <a:effectLst/>
        </p:spPr>
        <p:txBody>
          <a:bodyPr rtlCol="0" anchor="ctr"/>
          <a:lstStyle/>
          <a:p>
            <a:pPr algn="ctr"/>
            <a:endParaRPr/>
          </a:p>
        </p:txBody>
      </p:sp>
      <p:sp>
        <p:nvSpPr>
          <p:cNvPr id="19" name="Oval 18"/>
          <p:cNvSpPr/>
          <p:nvPr/>
        </p:nvSpPr>
        <p:spPr>
          <a:xfrm>
            <a:off x="7223760" y="1801368"/>
            <a:ext cx="731520" cy="731520"/>
          </a:xfrm>
          <a:prstGeom prst="ellipse">
            <a:avLst/>
          </a:prstGeom>
          <a:solidFill>
            <a:srgbClr val="1F2933"/>
          </a:solidFill>
          <a:ln>
            <a:noFill/>
          </a:ln>
        </p:spPr>
        <p:txBody>
          <a:bodyPr rtlCol="0" anchor="ctr"/>
          <a:lstStyle/>
          <a:p>
            <a:pPr algn="ctr"/>
            <a:endParaRPr/>
          </a:p>
        </p:txBody>
      </p:sp>
      <p:sp>
        <p:nvSpPr>
          <p:cNvPr id="20" name="TextBox 19"/>
          <p:cNvSpPr txBox="1"/>
          <p:nvPr/>
        </p:nvSpPr>
        <p:spPr>
          <a:xfrm>
            <a:off x="7223760" y="1801368"/>
            <a:ext cx="731520" cy="731520"/>
          </a:xfrm>
          <a:prstGeom prst="rect">
            <a:avLst/>
          </a:prstGeom>
          <a:noFill/>
        </p:spPr>
        <p:txBody>
          <a:bodyPr wrap="square" lIns="0" tIns="0" rIns="0" bIns="0" anchor="ctr">
            <a:spAutoFit/>
          </a:bodyPr>
          <a:lstStyle/>
          <a:p>
            <a:pPr algn="ctr"/>
            <a:r>
              <a:rPr sz="2000" b="1" i="0">
                <a:solidFill>
                  <a:srgbClr val="FFFFFF"/>
                </a:solidFill>
                <a:latin typeface="Arial"/>
              </a:rPr>
              <a:t>6</a:t>
            </a:r>
          </a:p>
        </p:txBody>
      </p:sp>
      <p:sp>
        <p:nvSpPr>
          <p:cNvPr id="21" name="Right Arrow 20"/>
          <p:cNvSpPr/>
          <p:nvPr/>
        </p:nvSpPr>
        <p:spPr>
          <a:xfrm>
            <a:off x="8065008" y="2011680"/>
            <a:ext cx="384048" cy="320040"/>
          </a:xfrm>
          <a:prstGeom prst="rightArrow">
            <a:avLst/>
          </a:prstGeom>
          <a:solidFill>
            <a:srgbClr val="1F5FA8"/>
          </a:solidFill>
          <a:ln>
            <a:noFill/>
          </a:ln>
          <a:effectLst/>
        </p:spPr>
        <p:txBody>
          <a:bodyPr rtlCol="0" anchor="ctr"/>
          <a:lstStyle/>
          <a:p>
            <a:pPr algn="ctr"/>
            <a:endParaRPr/>
          </a:p>
        </p:txBody>
      </p:sp>
      <p:sp>
        <p:nvSpPr>
          <p:cNvPr id="22" name="TextBox 21"/>
          <p:cNvSpPr txBox="1"/>
          <p:nvPr/>
        </p:nvSpPr>
        <p:spPr>
          <a:xfrm>
            <a:off x="8604504" y="1737360"/>
            <a:ext cx="3008376" cy="868680"/>
          </a:xfrm>
          <a:prstGeom prst="rect">
            <a:avLst/>
          </a:prstGeom>
          <a:noFill/>
        </p:spPr>
        <p:txBody>
          <a:bodyPr wrap="square" lIns="0" tIns="0" rIns="0" bIns="0" anchor="ctr">
            <a:spAutoFit/>
          </a:bodyPr>
          <a:lstStyle/>
          <a:p>
            <a:pPr algn="l"/>
            <a:r>
              <a:rPr sz="1800" b="1" i="0">
                <a:solidFill>
                  <a:srgbClr val="1F5FA8"/>
                </a:solidFill>
                <a:latin typeface="Arial"/>
              </a:rPr>
              <a:t>Next pass</a:t>
            </a:r>
          </a:p>
          <a:p>
            <a:pPr algn="l"/>
            <a:r>
              <a:rPr sz="1400" b="0" i="0">
                <a:solidFill>
                  <a:srgbClr val="52606D"/>
                </a:solidFill>
                <a:latin typeface="Arial"/>
              </a:rPr>
              <a:t>Stop after a pass with no mistakes</a:t>
            </a:r>
          </a:p>
        </p:txBody>
      </p:sp>
      <p:sp>
        <p:nvSpPr>
          <p:cNvPr id="23" name="TextBox 22"/>
          <p:cNvSpPr txBox="1"/>
          <p:nvPr/>
        </p:nvSpPr>
        <p:spPr>
          <a:xfrm>
            <a:off x="548640" y="2788920"/>
            <a:ext cx="11064240" cy="365760"/>
          </a:xfrm>
          <a:prstGeom prst="rect">
            <a:avLst/>
          </a:prstGeom>
          <a:noFill/>
        </p:spPr>
        <p:txBody>
          <a:bodyPr wrap="square" lIns="0" tIns="0" rIns="0" bIns="0" anchor="t">
            <a:spAutoFit/>
          </a:bodyPr>
          <a:lstStyle/>
          <a:p>
            <a:pPr algn="l"/>
            <a:r>
              <a:rPr sz="1600" b="0" i="0">
                <a:solidFill>
                  <a:srgbClr val="52606D"/>
                </a:solidFill>
                <a:latin typeface="Arial"/>
              </a:rPr>
              <a:t>One horse at a time, in order, all the way to the end. Then repeat.</a:t>
            </a:r>
          </a:p>
        </p:txBody>
      </p:sp>
      <p:sp>
        <p:nvSpPr>
          <p:cNvPr id="24" name="Rectangle 23"/>
          <p:cNvSpPr/>
          <p:nvPr/>
        </p:nvSpPr>
        <p:spPr>
          <a:xfrm>
            <a:off x="548640" y="3520440"/>
            <a:ext cx="5349240" cy="2606040"/>
          </a:xfrm>
          <a:prstGeom prst="rect">
            <a:avLst/>
          </a:prstGeom>
          <a:solidFill>
            <a:srgbClr val="EAF0F8"/>
          </a:solidFill>
          <a:ln>
            <a:noFill/>
          </a:ln>
          <a:effectLst/>
        </p:spPr>
        <p:txBody>
          <a:bodyPr rtlCol="0" anchor="ctr"/>
          <a:lstStyle/>
          <a:p>
            <a:pPr algn="ctr"/>
            <a:endParaRPr/>
          </a:p>
        </p:txBody>
      </p:sp>
      <p:sp>
        <p:nvSpPr>
          <p:cNvPr id="25" name="Rectangle 24"/>
          <p:cNvSpPr/>
          <p:nvPr/>
        </p:nvSpPr>
        <p:spPr>
          <a:xfrm>
            <a:off x="6263640" y="3520440"/>
            <a:ext cx="5349240" cy="2606040"/>
          </a:xfrm>
          <a:prstGeom prst="rect">
            <a:avLst/>
          </a:prstGeom>
          <a:solidFill>
            <a:srgbClr val="FBE9DD"/>
          </a:solidFill>
          <a:ln>
            <a:noFill/>
          </a:ln>
          <a:effectLst/>
        </p:spPr>
        <p:txBody>
          <a:bodyPr rtlCol="0" anchor="ctr"/>
          <a:lstStyle/>
          <a:p>
            <a:pPr algn="ctr"/>
            <a:endParaRPr/>
          </a:p>
        </p:txBody>
      </p:sp>
      <p:sp>
        <p:nvSpPr>
          <p:cNvPr id="26" name="TextBox 25"/>
          <p:cNvSpPr txBox="1"/>
          <p:nvPr/>
        </p:nvSpPr>
        <p:spPr>
          <a:xfrm>
            <a:off x="822960" y="3703320"/>
            <a:ext cx="4846320" cy="2286000"/>
          </a:xfrm>
          <a:prstGeom prst="rect">
            <a:avLst/>
          </a:prstGeom>
          <a:noFill/>
        </p:spPr>
        <p:txBody>
          <a:bodyPr wrap="square" lIns="0" tIns="0" rIns="0" bIns="0" anchor="t">
            <a:spAutoFit/>
          </a:bodyPr>
          <a:lstStyle/>
          <a:p>
            <a:pPr algn="l">
              <a:spcAft>
                <a:spcPts val="1000"/>
              </a:spcAft>
            </a:pPr>
            <a:r>
              <a:rPr sz="2200" b="1" i="0">
                <a:solidFill>
                  <a:srgbClr val="1F5FA8"/>
                </a:solidFill>
                <a:latin typeface="Arial"/>
              </a:rPr>
              <a:t>Pros</a:t>
            </a:r>
          </a:p>
          <a:p>
            <a:pPr algn="l">
              <a:spcAft>
                <a:spcPts val="1000"/>
              </a:spcAft>
            </a:pPr>
            <a:r>
              <a:rPr sz="1800" b="0" i="0">
                <a:solidFill>
                  <a:srgbClr val="1F2933"/>
                </a:solidFill>
                <a:latin typeface="Arial"/>
              </a:rPr>
              <a:t>Very simple: a few lines of code</a:t>
            </a:r>
          </a:p>
          <a:p>
            <a:pPr algn="l">
              <a:spcAft>
                <a:spcPts val="1000"/>
              </a:spcAft>
            </a:pPr>
            <a:r>
              <a:rPr sz="1800" b="0" i="0">
                <a:solidFill>
                  <a:srgbClr val="1F2933"/>
                </a:solidFill>
                <a:latin typeface="Arial"/>
              </a:rPr>
              <a:t>Each step is cheap: one dot product</a:t>
            </a:r>
          </a:p>
          <a:p>
            <a:pPr algn="l">
              <a:spcAft>
                <a:spcPts val="1000"/>
              </a:spcAft>
            </a:pPr>
            <a:r>
              <a:rPr sz="1800" b="0" i="0">
                <a:solidFill>
                  <a:srgbClr val="1F2933"/>
                </a:solidFill>
                <a:latin typeface="Arial"/>
              </a:rPr>
              <a:t>Learns as data arrives, nothing to tune</a:t>
            </a:r>
          </a:p>
        </p:txBody>
      </p:sp>
      <p:sp>
        <p:nvSpPr>
          <p:cNvPr id="27" name="TextBox 26"/>
          <p:cNvSpPr txBox="1"/>
          <p:nvPr/>
        </p:nvSpPr>
        <p:spPr>
          <a:xfrm>
            <a:off x="6537960" y="3703320"/>
            <a:ext cx="4846320" cy="2286000"/>
          </a:xfrm>
          <a:prstGeom prst="rect">
            <a:avLst/>
          </a:prstGeom>
          <a:noFill/>
        </p:spPr>
        <p:txBody>
          <a:bodyPr wrap="square" lIns="0" tIns="0" rIns="0" bIns="0" anchor="t">
            <a:spAutoFit/>
          </a:bodyPr>
          <a:lstStyle/>
          <a:p>
            <a:pPr algn="l">
              <a:spcAft>
                <a:spcPts val="1000"/>
              </a:spcAft>
            </a:pPr>
            <a:r>
              <a:rPr sz="2200" b="1" i="0">
                <a:solidFill>
                  <a:srgbClr val="B85014"/>
                </a:solidFill>
                <a:latin typeface="Arial"/>
              </a:rPr>
              <a:t>Cons</a:t>
            </a:r>
          </a:p>
          <a:p>
            <a:pPr algn="l">
              <a:spcAft>
                <a:spcPts val="1000"/>
              </a:spcAft>
            </a:pPr>
            <a:r>
              <a:rPr sz="1800" b="0" i="0">
                <a:solidFill>
                  <a:srgbClr val="1F2933"/>
                </a:solidFill>
                <a:latin typeface="Arial"/>
              </a:rPr>
              <a:t>Only finishes if a separating line exists</a:t>
            </a:r>
          </a:p>
          <a:p>
            <a:pPr algn="l">
              <a:spcAft>
                <a:spcPts val="1000"/>
              </a:spcAft>
            </a:pPr>
            <a:r>
              <a:rPr sz="1800" b="0" i="0">
                <a:solidFill>
                  <a:srgbClr val="1F2933"/>
                </a:solidFill>
                <a:latin typeface="Arial"/>
              </a:rPr>
              <a:t>Can take many passes if classes are close</a:t>
            </a:r>
          </a:p>
          <a:p>
            <a:pPr algn="l">
              <a:spcAft>
                <a:spcPts val="1000"/>
              </a:spcAft>
            </a:pPr>
            <a:r>
              <a:rPr sz="1800" b="0" i="0">
                <a:solidFill>
                  <a:srgbClr val="1F2933"/>
                </a:solidFill>
                <a:latin typeface="Arial"/>
              </a:rPr>
              <a:t>Keeps only the last v, with no margin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a:solidFill>
                  <a:srgbClr val="52606D"/>
                </a:solidFill>
                <a:latin typeface="Arial"/>
              </a:rPr>
              <a:t>PERCEPTRON  ·  THEOREM 1 (BLOCK, NOVIKOFF)</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a:solidFill>
                  <a:srgbClr val="1F2933"/>
                </a:solidFill>
                <a:latin typeface="Arial"/>
              </a:rPr>
              <a:t>The classic perceptron's mistakes are bounded</a:t>
            </a:r>
          </a:p>
        </p:txBody>
      </p:sp>
      <p:pic>
        <p:nvPicPr>
          <p:cNvPr id="4" name="Picture 3" descr="thm1.png"/>
          <p:cNvPicPr>
            <a:picLocks noChangeAspect="1"/>
          </p:cNvPicPr>
          <p:nvPr/>
        </p:nvPicPr>
        <p:blipFill>
          <a:blip r:embed="rId3"/>
          <a:stretch>
            <a:fillRect/>
          </a:stretch>
        </p:blipFill>
        <p:spPr>
          <a:xfrm>
            <a:off x="548640" y="1508760"/>
            <a:ext cx="6836744" cy="4892040"/>
          </a:xfrm>
          <a:prstGeom prst="rect">
            <a:avLst/>
          </a:prstGeom>
        </p:spPr>
      </p:pic>
      <p:sp>
        <p:nvSpPr>
          <p:cNvPr id="5" name="Rectangle 4"/>
          <p:cNvSpPr/>
          <p:nvPr/>
        </p:nvSpPr>
        <p:spPr>
          <a:xfrm>
            <a:off x="7796863" y="1508760"/>
            <a:ext cx="3846191" cy="1417320"/>
          </a:xfrm>
          <a:prstGeom prst="rect">
            <a:avLst/>
          </a:prstGeom>
          <a:solidFill>
            <a:srgbClr val="EAF0F8"/>
          </a:solidFill>
          <a:ln>
            <a:noFill/>
          </a:ln>
        </p:spPr>
        <p:txBody>
          <a:bodyPr rtlCol="0" anchor="ctr"/>
          <a:lstStyle/>
          <a:p>
            <a:pPr algn="ctr"/>
            <a:endParaRPr/>
          </a:p>
        </p:txBody>
      </p:sp>
      <p:sp>
        <p:nvSpPr>
          <p:cNvPr id="6" name="TextBox 5"/>
          <p:cNvSpPr txBox="1"/>
          <p:nvPr/>
        </p:nvSpPr>
        <p:spPr>
          <a:xfrm>
            <a:off x="8025463" y="1508760"/>
            <a:ext cx="3388991" cy="1417320"/>
          </a:xfrm>
          <a:prstGeom prst="rect">
            <a:avLst/>
          </a:prstGeom>
          <a:noFill/>
        </p:spPr>
        <p:txBody>
          <a:bodyPr wrap="square" lIns="0" tIns="0" rIns="0" bIns="0" anchor="ctr">
            <a:spAutoFit/>
          </a:bodyPr>
          <a:lstStyle/>
          <a:p>
            <a:pPr algn="l">
              <a:spcAft>
                <a:spcPts val="400"/>
              </a:spcAft>
            </a:pPr>
            <a:r>
              <a:rPr sz="2800" b="1">
                <a:solidFill>
                  <a:srgbClr val="1F5FA8"/>
                </a:solidFill>
                <a:latin typeface="Arial"/>
              </a:rPr>
              <a:t>mistakes ≤ (R / γ)²</a:t>
            </a:r>
          </a:p>
          <a:p>
            <a:pPr algn="l">
              <a:spcAft>
                <a:spcPts val="400"/>
              </a:spcAft>
            </a:pPr>
            <a:r>
              <a:rPr sz="1500" b="0">
                <a:solidFill>
                  <a:srgbClr val="52606D"/>
                </a:solidFill>
                <a:latin typeface="Arial"/>
              </a:rPr>
              <a:t>if some line separates the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VOTED 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The idea: don't throw the old versions away</a:t>
            </a:r>
          </a:p>
        </p:txBody>
      </p:sp>
      <p:sp>
        <p:nvSpPr>
          <p:cNvPr id="4" name="TextBox 3"/>
          <p:cNvSpPr txBox="1"/>
          <p:nvPr/>
        </p:nvSpPr>
        <p:spPr>
          <a:xfrm>
            <a:off x="548640" y="2103120"/>
            <a:ext cx="2743200" cy="822960"/>
          </a:xfrm>
          <a:prstGeom prst="rect">
            <a:avLst/>
          </a:prstGeom>
          <a:noFill/>
        </p:spPr>
        <p:txBody>
          <a:bodyPr wrap="square" lIns="0" tIns="0" rIns="0" bIns="0" anchor="ctr">
            <a:spAutoFit/>
          </a:bodyPr>
          <a:lstStyle/>
          <a:p>
            <a:pPr algn="l"/>
            <a:r>
              <a:rPr sz="2000" b="1" i="0">
                <a:solidFill>
                  <a:srgbClr val="1F2933"/>
                </a:solidFill>
                <a:latin typeface="Arial"/>
              </a:rPr>
              <a:t>Classic perceptron</a:t>
            </a:r>
          </a:p>
        </p:txBody>
      </p:sp>
      <p:sp>
        <p:nvSpPr>
          <p:cNvPr id="5" name="Rectangle 4"/>
          <p:cNvSpPr/>
          <p:nvPr/>
        </p:nvSpPr>
        <p:spPr>
          <a:xfrm>
            <a:off x="3474720" y="2103120"/>
            <a:ext cx="1188720" cy="822960"/>
          </a:xfrm>
          <a:prstGeom prst="rect">
            <a:avLst/>
          </a:prstGeom>
          <a:solidFill>
            <a:srgbClr val="D9DEE3"/>
          </a:solidFill>
          <a:ln>
            <a:noFill/>
          </a:ln>
        </p:spPr>
        <p:txBody>
          <a:bodyPr rtlCol="0" anchor="ctr"/>
          <a:lstStyle/>
          <a:p>
            <a:pPr algn="ctr"/>
            <a:endParaRPr/>
          </a:p>
        </p:txBody>
      </p:sp>
      <p:sp>
        <p:nvSpPr>
          <p:cNvPr id="6" name="TextBox 5"/>
          <p:cNvSpPr txBox="1"/>
          <p:nvPr/>
        </p:nvSpPr>
        <p:spPr>
          <a:xfrm>
            <a:off x="3474720" y="2103120"/>
            <a:ext cx="1188720" cy="822960"/>
          </a:xfrm>
          <a:prstGeom prst="rect">
            <a:avLst/>
          </a:prstGeom>
          <a:noFill/>
        </p:spPr>
        <p:txBody>
          <a:bodyPr wrap="square" lIns="0" tIns="0" rIns="0" bIns="0" anchor="ctr">
            <a:spAutoFit/>
          </a:bodyPr>
          <a:lstStyle/>
          <a:p>
            <a:pPr algn="ctr"/>
            <a:r>
              <a:rPr sz="2000" b="1" i="0">
                <a:solidFill>
                  <a:srgbClr val="52606D"/>
                </a:solidFill>
                <a:latin typeface="Arial"/>
              </a:rPr>
              <a:t>v1</a:t>
            </a:r>
          </a:p>
        </p:txBody>
      </p:sp>
      <p:sp>
        <p:nvSpPr>
          <p:cNvPr id="7" name="Rectangle 6"/>
          <p:cNvSpPr/>
          <p:nvPr/>
        </p:nvSpPr>
        <p:spPr>
          <a:xfrm>
            <a:off x="4937760" y="2103120"/>
            <a:ext cx="1188720" cy="822960"/>
          </a:xfrm>
          <a:prstGeom prst="rect">
            <a:avLst/>
          </a:prstGeom>
          <a:solidFill>
            <a:srgbClr val="D9DEE3"/>
          </a:solidFill>
          <a:ln>
            <a:noFill/>
          </a:ln>
        </p:spPr>
        <p:txBody>
          <a:bodyPr rtlCol="0" anchor="ctr"/>
          <a:lstStyle/>
          <a:p>
            <a:pPr algn="ctr"/>
            <a:endParaRPr/>
          </a:p>
        </p:txBody>
      </p:sp>
      <p:sp>
        <p:nvSpPr>
          <p:cNvPr id="8" name="TextBox 7"/>
          <p:cNvSpPr txBox="1"/>
          <p:nvPr/>
        </p:nvSpPr>
        <p:spPr>
          <a:xfrm>
            <a:off x="4937760" y="2103120"/>
            <a:ext cx="1188720" cy="822960"/>
          </a:xfrm>
          <a:prstGeom prst="rect">
            <a:avLst/>
          </a:prstGeom>
          <a:noFill/>
        </p:spPr>
        <p:txBody>
          <a:bodyPr wrap="square" lIns="0" tIns="0" rIns="0" bIns="0" anchor="ctr">
            <a:spAutoFit/>
          </a:bodyPr>
          <a:lstStyle/>
          <a:p>
            <a:pPr algn="ctr"/>
            <a:r>
              <a:rPr sz="2000" b="1" i="0">
                <a:solidFill>
                  <a:srgbClr val="52606D"/>
                </a:solidFill>
                <a:latin typeface="Arial"/>
              </a:rPr>
              <a:t>v2</a:t>
            </a:r>
          </a:p>
        </p:txBody>
      </p:sp>
      <p:sp>
        <p:nvSpPr>
          <p:cNvPr id="9" name="Rectangle 8"/>
          <p:cNvSpPr/>
          <p:nvPr/>
        </p:nvSpPr>
        <p:spPr>
          <a:xfrm>
            <a:off x="6400800" y="2103120"/>
            <a:ext cx="1188720" cy="822960"/>
          </a:xfrm>
          <a:prstGeom prst="rect">
            <a:avLst/>
          </a:prstGeom>
          <a:solidFill>
            <a:srgbClr val="1F2933"/>
          </a:solidFill>
          <a:ln>
            <a:noFill/>
          </a:ln>
        </p:spPr>
        <p:txBody>
          <a:bodyPr rtlCol="0" anchor="ctr"/>
          <a:lstStyle/>
          <a:p>
            <a:pPr algn="ctr"/>
            <a:endParaRPr/>
          </a:p>
        </p:txBody>
      </p:sp>
      <p:sp>
        <p:nvSpPr>
          <p:cNvPr id="10" name="TextBox 9"/>
          <p:cNvSpPr txBox="1"/>
          <p:nvPr/>
        </p:nvSpPr>
        <p:spPr>
          <a:xfrm>
            <a:off x="6400800" y="2103120"/>
            <a:ext cx="1188720" cy="822960"/>
          </a:xfrm>
          <a:prstGeom prst="rect">
            <a:avLst/>
          </a:prstGeom>
          <a:noFill/>
        </p:spPr>
        <p:txBody>
          <a:bodyPr wrap="square" lIns="0" tIns="0" rIns="0" bIns="0" anchor="ctr">
            <a:spAutoFit/>
          </a:bodyPr>
          <a:lstStyle/>
          <a:p>
            <a:pPr algn="ctr"/>
            <a:r>
              <a:rPr sz="2000" b="1" i="0">
                <a:solidFill>
                  <a:srgbClr val="FFFFFF"/>
                </a:solidFill>
                <a:latin typeface="Arial"/>
              </a:rPr>
              <a:t>v3</a:t>
            </a:r>
          </a:p>
        </p:txBody>
      </p:sp>
      <p:sp>
        <p:nvSpPr>
          <p:cNvPr id="11" name="TextBox 10"/>
          <p:cNvSpPr txBox="1"/>
          <p:nvPr/>
        </p:nvSpPr>
        <p:spPr>
          <a:xfrm>
            <a:off x="8046720" y="2103120"/>
            <a:ext cx="3657600" cy="822960"/>
          </a:xfrm>
          <a:prstGeom prst="rect">
            <a:avLst/>
          </a:prstGeom>
          <a:noFill/>
        </p:spPr>
        <p:txBody>
          <a:bodyPr wrap="square" lIns="0" tIns="0" rIns="0" bIns="0" anchor="ctr">
            <a:spAutoFit/>
          </a:bodyPr>
          <a:lstStyle/>
          <a:p>
            <a:pPr algn="l"/>
            <a:r>
              <a:rPr sz="1800" b="0" i="0">
                <a:solidFill>
                  <a:srgbClr val="52606D"/>
                </a:solidFill>
                <a:latin typeface="Arial"/>
              </a:rPr>
              <a:t>Keeps only the newest</a:t>
            </a:r>
          </a:p>
        </p:txBody>
      </p:sp>
      <p:sp>
        <p:nvSpPr>
          <p:cNvPr id="12" name="TextBox 11"/>
          <p:cNvSpPr txBox="1"/>
          <p:nvPr/>
        </p:nvSpPr>
        <p:spPr>
          <a:xfrm>
            <a:off x="548640" y="3429000"/>
            <a:ext cx="2743200" cy="822960"/>
          </a:xfrm>
          <a:prstGeom prst="rect">
            <a:avLst/>
          </a:prstGeom>
          <a:noFill/>
        </p:spPr>
        <p:txBody>
          <a:bodyPr wrap="square" lIns="0" tIns="0" rIns="0" bIns="0" anchor="ctr">
            <a:spAutoFit/>
          </a:bodyPr>
          <a:lstStyle/>
          <a:p>
            <a:pPr algn="l"/>
            <a:r>
              <a:rPr sz="2000" b="1" i="0">
                <a:solidFill>
                  <a:srgbClr val="1F2933"/>
                </a:solidFill>
                <a:latin typeface="Arial"/>
              </a:rPr>
              <a:t>Voted perceptron</a:t>
            </a:r>
          </a:p>
        </p:txBody>
      </p:sp>
      <p:sp>
        <p:nvSpPr>
          <p:cNvPr id="13" name="Rectangle 12"/>
          <p:cNvSpPr/>
          <p:nvPr/>
        </p:nvSpPr>
        <p:spPr>
          <a:xfrm>
            <a:off x="3474720" y="3429000"/>
            <a:ext cx="1188720" cy="822960"/>
          </a:xfrm>
          <a:prstGeom prst="rect">
            <a:avLst/>
          </a:prstGeom>
          <a:solidFill>
            <a:srgbClr val="1F2933"/>
          </a:solidFill>
          <a:ln>
            <a:noFill/>
          </a:ln>
        </p:spPr>
        <p:txBody>
          <a:bodyPr rtlCol="0" anchor="ctr"/>
          <a:lstStyle/>
          <a:p>
            <a:pPr algn="ctr"/>
            <a:endParaRPr/>
          </a:p>
        </p:txBody>
      </p:sp>
      <p:sp>
        <p:nvSpPr>
          <p:cNvPr id="14" name="TextBox 13"/>
          <p:cNvSpPr txBox="1"/>
          <p:nvPr/>
        </p:nvSpPr>
        <p:spPr>
          <a:xfrm>
            <a:off x="3474720" y="3429000"/>
            <a:ext cx="1188720" cy="822960"/>
          </a:xfrm>
          <a:prstGeom prst="rect">
            <a:avLst/>
          </a:prstGeom>
          <a:noFill/>
        </p:spPr>
        <p:txBody>
          <a:bodyPr wrap="square" lIns="0" tIns="0" rIns="0" bIns="0" anchor="ctr">
            <a:spAutoFit/>
          </a:bodyPr>
          <a:lstStyle/>
          <a:p>
            <a:pPr algn="ctr"/>
            <a:r>
              <a:rPr sz="2000" b="1" i="0">
                <a:solidFill>
                  <a:srgbClr val="FFFFFF"/>
                </a:solidFill>
                <a:latin typeface="Arial"/>
              </a:rPr>
              <a:t>v1</a:t>
            </a:r>
          </a:p>
        </p:txBody>
      </p:sp>
      <p:sp>
        <p:nvSpPr>
          <p:cNvPr id="15" name="Rectangle 14"/>
          <p:cNvSpPr/>
          <p:nvPr/>
        </p:nvSpPr>
        <p:spPr>
          <a:xfrm>
            <a:off x="4937760" y="3429000"/>
            <a:ext cx="1188720" cy="822960"/>
          </a:xfrm>
          <a:prstGeom prst="rect">
            <a:avLst/>
          </a:prstGeom>
          <a:solidFill>
            <a:srgbClr val="1F2933"/>
          </a:solidFill>
          <a:ln>
            <a:noFill/>
          </a:ln>
        </p:spPr>
        <p:txBody>
          <a:bodyPr rtlCol="0" anchor="ctr"/>
          <a:lstStyle/>
          <a:p>
            <a:pPr algn="ctr"/>
            <a:endParaRPr/>
          </a:p>
        </p:txBody>
      </p:sp>
      <p:sp>
        <p:nvSpPr>
          <p:cNvPr id="16" name="TextBox 15"/>
          <p:cNvSpPr txBox="1"/>
          <p:nvPr/>
        </p:nvSpPr>
        <p:spPr>
          <a:xfrm>
            <a:off x="4937760" y="3429000"/>
            <a:ext cx="1188720" cy="822960"/>
          </a:xfrm>
          <a:prstGeom prst="rect">
            <a:avLst/>
          </a:prstGeom>
          <a:noFill/>
        </p:spPr>
        <p:txBody>
          <a:bodyPr wrap="square" lIns="0" tIns="0" rIns="0" bIns="0" anchor="ctr">
            <a:spAutoFit/>
          </a:bodyPr>
          <a:lstStyle/>
          <a:p>
            <a:pPr algn="ctr"/>
            <a:r>
              <a:rPr sz="2000" b="1" i="0">
                <a:solidFill>
                  <a:srgbClr val="FFFFFF"/>
                </a:solidFill>
                <a:latin typeface="Arial"/>
              </a:rPr>
              <a:t>v2</a:t>
            </a:r>
          </a:p>
        </p:txBody>
      </p:sp>
      <p:sp>
        <p:nvSpPr>
          <p:cNvPr id="17" name="Rectangle 16"/>
          <p:cNvSpPr/>
          <p:nvPr/>
        </p:nvSpPr>
        <p:spPr>
          <a:xfrm>
            <a:off x="6400800" y="3429000"/>
            <a:ext cx="1188720" cy="822960"/>
          </a:xfrm>
          <a:prstGeom prst="rect">
            <a:avLst/>
          </a:prstGeom>
          <a:solidFill>
            <a:srgbClr val="1F2933"/>
          </a:solidFill>
          <a:ln>
            <a:noFill/>
          </a:ln>
        </p:spPr>
        <p:txBody>
          <a:bodyPr rtlCol="0" anchor="ctr"/>
          <a:lstStyle/>
          <a:p>
            <a:pPr algn="ctr"/>
            <a:endParaRPr/>
          </a:p>
        </p:txBody>
      </p:sp>
      <p:sp>
        <p:nvSpPr>
          <p:cNvPr id="18" name="TextBox 17"/>
          <p:cNvSpPr txBox="1"/>
          <p:nvPr/>
        </p:nvSpPr>
        <p:spPr>
          <a:xfrm>
            <a:off x="6400800" y="3429000"/>
            <a:ext cx="1188720" cy="822960"/>
          </a:xfrm>
          <a:prstGeom prst="rect">
            <a:avLst/>
          </a:prstGeom>
          <a:noFill/>
        </p:spPr>
        <p:txBody>
          <a:bodyPr wrap="square" lIns="0" tIns="0" rIns="0" bIns="0" anchor="ctr">
            <a:spAutoFit/>
          </a:bodyPr>
          <a:lstStyle/>
          <a:p>
            <a:pPr algn="ctr"/>
            <a:r>
              <a:rPr sz="2000" b="1" i="0">
                <a:solidFill>
                  <a:srgbClr val="FFFFFF"/>
                </a:solidFill>
                <a:latin typeface="Arial"/>
              </a:rPr>
              <a:t>v3</a:t>
            </a:r>
          </a:p>
        </p:txBody>
      </p:sp>
      <p:sp>
        <p:nvSpPr>
          <p:cNvPr id="19" name="TextBox 18"/>
          <p:cNvSpPr txBox="1"/>
          <p:nvPr/>
        </p:nvSpPr>
        <p:spPr>
          <a:xfrm>
            <a:off x="8046720" y="3429000"/>
            <a:ext cx="3657600" cy="822960"/>
          </a:xfrm>
          <a:prstGeom prst="rect">
            <a:avLst/>
          </a:prstGeom>
          <a:noFill/>
        </p:spPr>
        <p:txBody>
          <a:bodyPr wrap="square" lIns="0" tIns="0" rIns="0" bIns="0" anchor="ctr">
            <a:spAutoFit/>
          </a:bodyPr>
          <a:lstStyle/>
          <a:p>
            <a:pPr algn="l"/>
            <a:r>
              <a:rPr sz="1800" b="0" i="0">
                <a:solidFill>
                  <a:srgbClr val="1F5FA8"/>
                </a:solidFill>
                <a:latin typeface="Arial"/>
              </a:rPr>
              <a:t>Keeps all of them, and they vote</a:t>
            </a:r>
          </a:p>
        </p:txBody>
      </p:sp>
      <p:sp>
        <p:nvSpPr>
          <p:cNvPr id="20" name="Rectangle 19"/>
          <p:cNvSpPr/>
          <p:nvPr/>
        </p:nvSpPr>
        <p:spPr>
          <a:xfrm>
            <a:off x="548640" y="4800600"/>
            <a:ext cx="11064240" cy="1097280"/>
          </a:xfrm>
          <a:prstGeom prst="rect">
            <a:avLst/>
          </a:prstGeom>
          <a:solidFill>
            <a:srgbClr val="EAF0F8"/>
          </a:solidFill>
          <a:ln>
            <a:noFill/>
          </a:ln>
          <a:effectLst/>
        </p:spPr>
        <p:txBody>
          <a:bodyPr rtlCol="0" anchor="ctr"/>
          <a:lstStyle/>
          <a:p>
            <a:pPr algn="ctr"/>
            <a:endParaRPr/>
          </a:p>
        </p:txBody>
      </p:sp>
      <p:sp>
        <p:nvSpPr>
          <p:cNvPr id="21" name="TextBox 20"/>
          <p:cNvSpPr txBox="1"/>
          <p:nvPr/>
        </p:nvSpPr>
        <p:spPr>
          <a:xfrm>
            <a:off x="868680" y="4800600"/>
            <a:ext cx="10424160" cy="1097280"/>
          </a:xfrm>
          <a:prstGeom prst="rect">
            <a:avLst/>
          </a:prstGeom>
          <a:noFill/>
        </p:spPr>
        <p:txBody>
          <a:bodyPr wrap="square" lIns="0" tIns="0" rIns="0" bIns="0" anchor="ctr">
            <a:spAutoFit/>
          </a:bodyPr>
          <a:lstStyle/>
          <a:p>
            <a:pPr algn="l"/>
            <a:r>
              <a:rPr sz="1900" b="1" i="0">
                <a:solidFill>
                  <a:srgbClr val="1F2933"/>
                </a:solidFill>
                <a:latin typeface="Arial"/>
              </a:rPr>
              <a:t>Same training. </a:t>
            </a:r>
            <a:r>
              <a:rPr sz="1900" b="0" i="0">
                <a:solidFill>
                  <a:srgbClr val="1F2933"/>
                </a:solidFill>
                <a:latin typeface="Arial"/>
              </a:rPr>
              <a:t>The only change is saving every version of v, plus how long it lasted, and letting them vote.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VOTED 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Analogy: which tipster do you trust on race day?</a:t>
            </a:r>
          </a:p>
        </p:txBody>
      </p:sp>
      <p:sp>
        <p:nvSpPr>
          <p:cNvPr id="4" name="Rectangle 3"/>
          <p:cNvSpPr/>
          <p:nvPr/>
        </p:nvSpPr>
        <p:spPr>
          <a:xfrm>
            <a:off x="548640" y="2331720"/>
            <a:ext cx="1246811" cy="685800"/>
          </a:xfrm>
          <a:prstGeom prst="rect">
            <a:avLst/>
          </a:prstGeom>
          <a:solidFill>
            <a:srgbClr val="9AA5B1"/>
          </a:solidFill>
          <a:ln>
            <a:noFill/>
          </a:ln>
          <a:effectLst/>
        </p:spPr>
        <p:txBody>
          <a:bodyPr rtlCol="0" anchor="ctr"/>
          <a:lstStyle/>
          <a:p>
            <a:pPr algn="ctr"/>
            <a:endParaRPr/>
          </a:p>
        </p:txBody>
      </p:sp>
      <p:sp>
        <p:nvSpPr>
          <p:cNvPr id="5" name="TextBox 4"/>
          <p:cNvSpPr txBox="1"/>
          <p:nvPr/>
        </p:nvSpPr>
        <p:spPr>
          <a:xfrm>
            <a:off x="548640" y="2331720"/>
            <a:ext cx="1246811" cy="685800"/>
          </a:xfrm>
          <a:prstGeom prst="rect">
            <a:avLst/>
          </a:prstGeom>
          <a:noFill/>
        </p:spPr>
        <p:txBody>
          <a:bodyPr wrap="square" lIns="0" tIns="0" rIns="0" bIns="0" anchor="ctr">
            <a:spAutoFit/>
          </a:bodyPr>
          <a:lstStyle/>
          <a:p>
            <a:pPr algn="ctr"/>
            <a:r>
              <a:rPr sz="1600" b="1" i="0">
                <a:solidFill>
                  <a:srgbClr val="FFFFFF"/>
                </a:solidFill>
                <a:latin typeface="Arial"/>
              </a:rPr>
              <a:t>2</a:t>
            </a:r>
          </a:p>
        </p:txBody>
      </p:sp>
      <p:sp>
        <p:nvSpPr>
          <p:cNvPr id="6" name="TextBox 5"/>
          <p:cNvSpPr txBox="1"/>
          <p:nvPr/>
        </p:nvSpPr>
        <p:spPr>
          <a:xfrm>
            <a:off x="548640" y="1600199"/>
            <a:ext cx="1246811" cy="685800"/>
          </a:xfrm>
          <a:prstGeom prst="rect">
            <a:avLst/>
          </a:prstGeom>
          <a:noFill/>
        </p:spPr>
        <p:txBody>
          <a:bodyPr wrap="square" lIns="0" tIns="0" rIns="0" bIns="0" anchor="b">
            <a:spAutoFit/>
          </a:bodyPr>
          <a:lstStyle/>
          <a:p>
            <a:pPr algn="l"/>
            <a:r>
              <a:rPr sz="1600" b="1" i="0">
                <a:solidFill>
                  <a:srgbClr val="1F2933"/>
                </a:solidFill>
                <a:latin typeface="Arial"/>
              </a:rPr>
              <a:t>Tipster 1</a:t>
            </a:r>
          </a:p>
        </p:txBody>
      </p:sp>
      <p:sp>
        <p:nvSpPr>
          <p:cNvPr id="7" name="TextBox 6"/>
          <p:cNvSpPr txBox="1"/>
          <p:nvPr/>
        </p:nvSpPr>
        <p:spPr>
          <a:xfrm>
            <a:off x="1612571" y="3081527"/>
            <a:ext cx="548640" cy="365760"/>
          </a:xfrm>
          <a:prstGeom prst="rect">
            <a:avLst/>
          </a:prstGeom>
          <a:noFill/>
        </p:spPr>
        <p:txBody>
          <a:bodyPr wrap="square" lIns="0" tIns="0" rIns="0" bIns="0" anchor="t">
            <a:spAutoFit/>
          </a:bodyPr>
          <a:lstStyle/>
          <a:p>
            <a:pPr algn="ctr"/>
            <a:r>
              <a:rPr sz="2000" b="1" i="0">
                <a:solidFill>
                  <a:srgbClr val="B85014"/>
                </a:solidFill>
                <a:latin typeface="Arial"/>
              </a:rPr>
              <a:t>✗</a:t>
            </a:r>
          </a:p>
        </p:txBody>
      </p:sp>
      <p:sp>
        <p:nvSpPr>
          <p:cNvPr id="8" name="Rectangle 7"/>
          <p:cNvSpPr/>
          <p:nvPr/>
        </p:nvSpPr>
        <p:spPr>
          <a:xfrm>
            <a:off x="1850315" y="2331720"/>
            <a:ext cx="7755187" cy="685800"/>
          </a:xfrm>
          <a:prstGeom prst="rect">
            <a:avLst/>
          </a:prstGeom>
          <a:solidFill>
            <a:srgbClr val="1F2933"/>
          </a:solidFill>
          <a:ln>
            <a:noFill/>
          </a:ln>
          <a:effectLst/>
        </p:spPr>
        <p:txBody>
          <a:bodyPr rtlCol="0" anchor="ctr"/>
          <a:lstStyle/>
          <a:p>
            <a:pPr algn="ctr"/>
            <a:endParaRPr/>
          </a:p>
        </p:txBody>
      </p:sp>
      <p:sp>
        <p:nvSpPr>
          <p:cNvPr id="9" name="TextBox 8"/>
          <p:cNvSpPr txBox="1"/>
          <p:nvPr/>
        </p:nvSpPr>
        <p:spPr>
          <a:xfrm>
            <a:off x="1850315" y="2331720"/>
            <a:ext cx="7755187" cy="685800"/>
          </a:xfrm>
          <a:prstGeom prst="rect">
            <a:avLst/>
          </a:prstGeom>
          <a:noFill/>
        </p:spPr>
        <p:txBody>
          <a:bodyPr wrap="square" lIns="0" tIns="0" rIns="0" bIns="0" anchor="ctr">
            <a:spAutoFit/>
          </a:bodyPr>
          <a:lstStyle/>
          <a:p>
            <a:pPr algn="ctr"/>
            <a:r>
              <a:rPr sz="1600" b="1" i="0">
                <a:solidFill>
                  <a:srgbClr val="FFFFFF"/>
                </a:solidFill>
                <a:latin typeface="Arial"/>
              </a:rPr>
              <a:t>12 races</a:t>
            </a:r>
          </a:p>
        </p:txBody>
      </p:sp>
      <p:sp>
        <p:nvSpPr>
          <p:cNvPr id="10" name="TextBox 9"/>
          <p:cNvSpPr txBox="1"/>
          <p:nvPr/>
        </p:nvSpPr>
        <p:spPr>
          <a:xfrm>
            <a:off x="1850315" y="1600199"/>
            <a:ext cx="7755187" cy="685800"/>
          </a:xfrm>
          <a:prstGeom prst="rect">
            <a:avLst/>
          </a:prstGeom>
          <a:noFill/>
        </p:spPr>
        <p:txBody>
          <a:bodyPr wrap="square" lIns="0" tIns="0" rIns="0" bIns="0" anchor="b">
            <a:spAutoFit/>
          </a:bodyPr>
          <a:lstStyle/>
          <a:p>
            <a:pPr algn="l"/>
            <a:r>
              <a:rPr sz="1600" b="1" i="0">
                <a:solidFill>
                  <a:srgbClr val="1F2933"/>
                </a:solidFill>
                <a:latin typeface="Arial"/>
              </a:rPr>
              <a:t>Tipster 2</a:t>
            </a:r>
          </a:p>
        </p:txBody>
      </p:sp>
      <p:sp>
        <p:nvSpPr>
          <p:cNvPr id="11" name="TextBox 10"/>
          <p:cNvSpPr txBox="1"/>
          <p:nvPr/>
        </p:nvSpPr>
        <p:spPr>
          <a:xfrm>
            <a:off x="9422623" y="3081527"/>
            <a:ext cx="548640" cy="365760"/>
          </a:xfrm>
          <a:prstGeom prst="rect">
            <a:avLst/>
          </a:prstGeom>
          <a:noFill/>
        </p:spPr>
        <p:txBody>
          <a:bodyPr wrap="square" lIns="0" tIns="0" rIns="0" bIns="0" anchor="t">
            <a:spAutoFit/>
          </a:bodyPr>
          <a:lstStyle/>
          <a:p>
            <a:pPr algn="ctr"/>
            <a:r>
              <a:rPr sz="2000" b="1" i="0">
                <a:solidFill>
                  <a:srgbClr val="B85014"/>
                </a:solidFill>
                <a:latin typeface="Arial"/>
              </a:rPr>
              <a:t>✗</a:t>
            </a:r>
          </a:p>
        </p:txBody>
      </p:sp>
      <p:sp>
        <p:nvSpPr>
          <p:cNvPr id="12" name="Rectangle 11"/>
          <p:cNvSpPr/>
          <p:nvPr/>
        </p:nvSpPr>
        <p:spPr>
          <a:xfrm>
            <a:off x="9660367" y="2331720"/>
            <a:ext cx="1952512" cy="685800"/>
          </a:xfrm>
          <a:prstGeom prst="rect">
            <a:avLst/>
          </a:prstGeom>
          <a:solidFill>
            <a:srgbClr val="1F5FA8"/>
          </a:solidFill>
          <a:ln>
            <a:noFill/>
          </a:ln>
          <a:effectLst/>
        </p:spPr>
        <p:txBody>
          <a:bodyPr rtlCol="0" anchor="ctr"/>
          <a:lstStyle/>
          <a:p>
            <a:pPr algn="ctr"/>
            <a:endParaRPr/>
          </a:p>
        </p:txBody>
      </p:sp>
      <p:sp>
        <p:nvSpPr>
          <p:cNvPr id="13" name="TextBox 12"/>
          <p:cNvSpPr txBox="1"/>
          <p:nvPr/>
        </p:nvSpPr>
        <p:spPr>
          <a:xfrm>
            <a:off x="9660367" y="2331720"/>
            <a:ext cx="1952512" cy="685800"/>
          </a:xfrm>
          <a:prstGeom prst="rect">
            <a:avLst/>
          </a:prstGeom>
          <a:noFill/>
        </p:spPr>
        <p:txBody>
          <a:bodyPr wrap="square" lIns="0" tIns="0" rIns="0" bIns="0" anchor="ctr">
            <a:spAutoFit/>
          </a:bodyPr>
          <a:lstStyle/>
          <a:p>
            <a:pPr algn="ctr"/>
            <a:r>
              <a:rPr sz="1600" b="1" i="0">
                <a:solidFill>
                  <a:srgbClr val="FFFFFF"/>
                </a:solidFill>
                <a:latin typeface="Arial"/>
              </a:rPr>
              <a:t>3 races</a:t>
            </a:r>
          </a:p>
        </p:txBody>
      </p:sp>
      <p:sp>
        <p:nvSpPr>
          <p:cNvPr id="14" name="TextBox 13"/>
          <p:cNvSpPr txBox="1"/>
          <p:nvPr/>
        </p:nvSpPr>
        <p:spPr>
          <a:xfrm>
            <a:off x="9660367" y="1600199"/>
            <a:ext cx="1952512" cy="685800"/>
          </a:xfrm>
          <a:prstGeom prst="rect">
            <a:avLst/>
          </a:prstGeom>
          <a:noFill/>
        </p:spPr>
        <p:txBody>
          <a:bodyPr wrap="square" lIns="0" tIns="0" rIns="0" bIns="0" anchor="b">
            <a:spAutoFit/>
          </a:bodyPr>
          <a:lstStyle/>
          <a:p>
            <a:pPr algn="l"/>
            <a:r>
              <a:rPr sz="1600" b="1" i="0">
                <a:solidFill>
                  <a:srgbClr val="1F2933"/>
                </a:solidFill>
                <a:latin typeface="Arial"/>
              </a:rPr>
              <a:t>Tipster 3</a:t>
            </a:r>
          </a:p>
          <a:p>
            <a:pPr algn="l"/>
            <a:r>
              <a:rPr sz="1400" b="0" i="0">
                <a:solidFill>
                  <a:srgbClr val="52606D"/>
                </a:solidFill>
                <a:latin typeface="Arial"/>
              </a:rPr>
              <a:t>(newest)</a:t>
            </a:r>
          </a:p>
        </p:txBody>
      </p:sp>
      <p:sp>
        <p:nvSpPr>
          <p:cNvPr id="15" name="TextBox 14"/>
          <p:cNvSpPr txBox="1"/>
          <p:nvPr/>
        </p:nvSpPr>
        <p:spPr>
          <a:xfrm>
            <a:off x="548640" y="1417320"/>
            <a:ext cx="11064240" cy="365760"/>
          </a:xfrm>
          <a:prstGeom prst="rect">
            <a:avLst/>
          </a:prstGeom>
          <a:noFill/>
        </p:spPr>
        <p:txBody>
          <a:bodyPr wrap="square" lIns="0" tIns="0" rIns="0" bIns="0" anchor="t">
            <a:spAutoFit/>
          </a:bodyPr>
          <a:lstStyle/>
          <a:p>
            <a:pPr algn="l"/>
            <a:r>
              <a:rPr sz="1600" b="0" i="0">
                <a:solidFill>
                  <a:srgbClr val="52606D"/>
                </a:solidFill>
                <a:latin typeface="Arial"/>
              </a:rPr>
              <a:t>Each block is one tipster's streak of correct calls.</a:t>
            </a:r>
          </a:p>
        </p:txBody>
      </p:sp>
      <p:sp>
        <p:nvSpPr>
          <p:cNvPr id="16" name="TextBox 15"/>
          <p:cNvSpPr txBox="1"/>
          <p:nvPr/>
        </p:nvSpPr>
        <p:spPr>
          <a:xfrm>
            <a:off x="548640" y="3520440"/>
            <a:ext cx="11064240" cy="365760"/>
          </a:xfrm>
          <a:prstGeom prst="rect">
            <a:avLst/>
          </a:prstGeom>
          <a:noFill/>
        </p:spPr>
        <p:txBody>
          <a:bodyPr wrap="square" lIns="0" tIns="0" rIns="0" bIns="0" anchor="t">
            <a:spAutoFit/>
          </a:bodyPr>
          <a:lstStyle/>
          <a:p>
            <a:pPr algn="l"/>
            <a:r>
              <a:rPr sz="1400" b="0" i="0">
                <a:solidFill>
                  <a:srgbClr val="52606D"/>
                </a:solidFill>
                <a:latin typeface="Arial"/>
              </a:rPr>
              <a:t>✗ = a wrong call. That tipster retires, and the next one is the old one plus a correction (v ← v + y·x).</a:t>
            </a:r>
          </a:p>
        </p:txBody>
      </p:sp>
      <p:sp>
        <p:nvSpPr>
          <p:cNvPr id="17" name="Rectangle 16"/>
          <p:cNvSpPr/>
          <p:nvPr/>
        </p:nvSpPr>
        <p:spPr>
          <a:xfrm>
            <a:off x="548640" y="4114800"/>
            <a:ext cx="5349240" cy="2011680"/>
          </a:xfrm>
          <a:prstGeom prst="rect">
            <a:avLst/>
          </a:prstGeom>
          <a:solidFill>
            <a:srgbClr val="F2F4F6"/>
          </a:solidFill>
          <a:ln>
            <a:noFill/>
          </a:ln>
          <a:effectLst/>
        </p:spPr>
        <p:txBody>
          <a:bodyPr rtlCol="0" anchor="ctr"/>
          <a:lstStyle/>
          <a:p>
            <a:pPr algn="ctr"/>
            <a:endParaRPr/>
          </a:p>
        </p:txBody>
      </p:sp>
      <p:sp>
        <p:nvSpPr>
          <p:cNvPr id="18" name="Rectangle 17"/>
          <p:cNvSpPr/>
          <p:nvPr/>
        </p:nvSpPr>
        <p:spPr>
          <a:xfrm>
            <a:off x="6263640" y="4114800"/>
            <a:ext cx="5349240" cy="2011680"/>
          </a:xfrm>
          <a:prstGeom prst="rect">
            <a:avLst/>
          </a:prstGeom>
          <a:solidFill>
            <a:srgbClr val="EAF0F8"/>
          </a:solidFill>
          <a:ln>
            <a:noFill/>
          </a:ln>
          <a:effectLst/>
        </p:spPr>
        <p:txBody>
          <a:bodyPr rtlCol="0" anchor="ctr"/>
          <a:lstStyle/>
          <a:p>
            <a:pPr algn="ctr"/>
            <a:endParaRPr/>
          </a:p>
        </p:txBody>
      </p:sp>
      <p:sp>
        <p:nvSpPr>
          <p:cNvPr id="19" name="TextBox 18"/>
          <p:cNvSpPr txBox="1"/>
          <p:nvPr/>
        </p:nvSpPr>
        <p:spPr>
          <a:xfrm>
            <a:off x="822960" y="4297680"/>
            <a:ext cx="4846320" cy="1737360"/>
          </a:xfrm>
          <a:prstGeom prst="rect">
            <a:avLst/>
          </a:prstGeom>
          <a:noFill/>
        </p:spPr>
        <p:txBody>
          <a:bodyPr wrap="square" lIns="0" tIns="0" rIns="0" bIns="0" anchor="t">
            <a:spAutoFit/>
          </a:bodyPr>
          <a:lstStyle/>
          <a:p>
            <a:pPr algn="l">
              <a:spcAft>
                <a:spcPts val="800"/>
              </a:spcAft>
            </a:pPr>
            <a:r>
              <a:rPr sz="2000" b="1" i="0">
                <a:solidFill>
                  <a:srgbClr val="1F2933"/>
                </a:solidFill>
                <a:latin typeface="Arial"/>
              </a:rPr>
              <a:t>Classic perceptron</a:t>
            </a:r>
          </a:p>
          <a:p>
            <a:pPr algn="l">
              <a:spcAft>
                <a:spcPts val="800"/>
              </a:spcAft>
            </a:pPr>
            <a:r>
              <a:rPr sz="1800" b="0" i="0">
                <a:solidFill>
                  <a:srgbClr val="1F2933"/>
                </a:solidFill>
                <a:latin typeface="Arial"/>
              </a:rPr>
              <a:t>Bet only with the newest tipster.</a:t>
            </a:r>
          </a:p>
          <a:p>
            <a:pPr algn="l">
              <a:spcAft>
                <a:spcPts val="800"/>
              </a:spcAft>
            </a:pPr>
            <a:r>
              <a:rPr sz="1800" b="0" i="0">
                <a:solidFill>
                  <a:srgbClr val="52606D"/>
                </a:solidFill>
                <a:latin typeface="Arial"/>
              </a:rPr>
              <a:t>Tipster 3, who has only 3 good calls.</a:t>
            </a:r>
          </a:p>
        </p:txBody>
      </p:sp>
      <p:sp>
        <p:nvSpPr>
          <p:cNvPr id="20" name="TextBox 19"/>
          <p:cNvSpPr txBox="1"/>
          <p:nvPr/>
        </p:nvSpPr>
        <p:spPr>
          <a:xfrm>
            <a:off x="6537960" y="4297680"/>
            <a:ext cx="4846320" cy="1737360"/>
          </a:xfrm>
          <a:prstGeom prst="rect">
            <a:avLst/>
          </a:prstGeom>
          <a:noFill/>
        </p:spPr>
        <p:txBody>
          <a:bodyPr wrap="square" lIns="0" tIns="0" rIns="0" bIns="0" anchor="t">
            <a:spAutoFit/>
          </a:bodyPr>
          <a:lstStyle/>
          <a:p>
            <a:pPr algn="l">
              <a:spcAft>
                <a:spcPts val="800"/>
              </a:spcAft>
            </a:pPr>
            <a:r>
              <a:rPr sz="2000" b="1" i="0">
                <a:solidFill>
                  <a:srgbClr val="1F5FA8"/>
                </a:solidFill>
                <a:latin typeface="Arial"/>
              </a:rPr>
              <a:t>Voted perceptron</a:t>
            </a:r>
          </a:p>
          <a:p>
            <a:pPr algn="l">
              <a:spcAft>
                <a:spcPts val="800"/>
              </a:spcAft>
            </a:pPr>
            <a:r>
              <a:rPr sz="1800" b="0" i="0">
                <a:solidFill>
                  <a:srgbClr val="1F2933"/>
                </a:solidFill>
                <a:latin typeface="Arial"/>
              </a:rPr>
              <a:t>Everyone bets. Each vote counts as many times as that tipster's streak.</a:t>
            </a:r>
          </a:p>
          <a:p>
            <a:pPr algn="l">
              <a:spcAft>
                <a:spcPts val="800"/>
              </a:spcAft>
            </a:pPr>
            <a:r>
              <a:rPr sz="1800" b="0" i="0">
                <a:solidFill>
                  <a:srgbClr val="52606D"/>
                </a:solidFill>
                <a:latin typeface="Courier New"/>
              </a:rPr>
              <a:t>Votes: 2 + 12 + 3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VOTED 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Every version votes, weighted by how long it lasted</a:t>
            </a:r>
          </a:p>
        </p:txBody>
      </p:sp>
      <p:sp>
        <p:nvSpPr>
          <p:cNvPr id="4" name="Rectangle 3"/>
          <p:cNvSpPr/>
          <p:nvPr/>
        </p:nvSpPr>
        <p:spPr>
          <a:xfrm>
            <a:off x="548640" y="2011680"/>
            <a:ext cx="1246811" cy="640080"/>
          </a:xfrm>
          <a:prstGeom prst="rect">
            <a:avLst/>
          </a:prstGeom>
          <a:solidFill>
            <a:srgbClr val="9AA5B1"/>
          </a:solidFill>
          <a:ln>
            <a:noFill/>
          </a:ln>
          <a:effectLst/>
        </p:spPr>
        <p:txBody>
          <a:bodyPr rtlCol="0" anchor="ctr"/>
          <a:lstStyle/>
          <a:p>
            <a:pPr algn="ctr"/>
            <a:endParaRPr/>
          </a:p>
        </p:txBody>
      </p:sp>
      <p:sp>
        <p:nvSpPr>
          <p:cNvPr id="5" name="TextBox 4"/>
          <p:cNvSpPr txBox="1"/>
          <p:nvPr/>
        </p:nvSpPr>
        <p:spPr>
          <a:xfrm>
            <a:off x="548640" y="2011680"/>
            <a:ext cx="1246811" cy="640080"/>
          </a:xfrm>
          <a:prstGeom prst="rect">
            <a:avLst/>
          </a:prstGeom>
          <a:noFill/>
        </p:spPr>
        <p:txBody>
          <a:bodyPr wrap="square" lIns="0" tIns="0" rIns="0" bIns="0" anchor="ctr">
            <a:spAutoFit/>
          </a:bodyPr>
          <a:lstStyle/>
          <a:p>
            <a:pPr algn="ctr"/>
            <a:r>
              <a:rPr sz="1600" b="1" i="0">
                <a:solidFill>
                  <a:srgbClr val="FFFFFF"/>
                </a:solidFill>
                <a:latin typeface="Arial"/>
              </a:rPr>
              <a:t>2</a:t>
            </a:r>
          </a:p>
        </p:txBody>
      </p:sp>
      <p:sp>
        <p:nvSpPr>
          <p:cNvPr id="6" name="TextBox 5"/>
          <p:cNvSpPr txBox="1"/>
          <p:nvPr/>
        </p:nvSpPr>
        <p:spPr>
          <a:xfrm>
            <a:off x="548640" y="1600200"/>
            <a:ext cx="1246811" cy="365760"/>
          </a:xfrm>
          <a:prstGeom prst="rect">
            <a:avLst/>
          </a:prstGeom>
          <a:noFill/>
        </p:spPr>
        <p:txBody>
          <a:bodyPr wrap="square" lIns="0" tIns="0" rIns="0" bIns="0" anchor="b">
            <a:spAutoFit/>
          </a:bodyPr>
          <a:lstStyle/>
          <a:p>
            <a:pPr algn="l"/>
            <a:r>
              <a:rPr sz="1600" b="1" i="0">
                <a:solidFill>
                  <a:srgbClr val="1F2933"/>
                </a:solidFill>
                <a:latin typeface="Arial"/>
              </a:rPr>
              <a:t>v1</a:t>
            </a:r>
          </a:p>
        </p:txBody>
      </p:sp>
      <p:sp>
        <p:nvSpPr>
          <p:cNvPr id="7" name="TextBox 6"/>
          <p:cNvSpPr txBox="1"/>
          <p:nvPr/>
        </p:nvSpPr>
        <p:spPr>
          <a:xfrm>
            <a:off x="1612571" y="2697480"/>
            <a:ext cx="548640" cy="365760"/>
          </a:xfrm>
          <a:prstGeom prst="rect">
            <a:avLst/>
          </a:prstGeom>
          <a:noFill/>
        </p:spPr>
        <p:txBody>
          <a:bodyPr wrap="square" lIns="0" tIns="0" rIns="0" bIns="0" anchor="t">
            <a:spAutoFit/>
          </a:bodyPr>
          <a:lstStyle/>
          <a:p>
            <a:pPr algn="ctr"/>
            <a:r>
              <a:rPr sz="2000" b="1" i="0">
                <a:solidFill>
                  <a:srgbClr val="B85014"/>
                </a:solidFill>
                <a:latin typeface="Arial"/>
              </a:rPr>
              <a:t>✗</a:t>
            </a:r>
          </a:p>
        </p:txBody>
      </p:sp>
      <p:sp>
        <p:nvSpPr>
          <p:cNvPr id="8" name="Rectangle 7"/>
          <p:cNvSpPr/>
          <p:nvPr/>
        </p:nvSpPr>
        <p:spPr>
          <a:xfrm>
            <a:off x="1850315" y="2011680"/>
            <a:ext cx="7755187" cy="640080"/>
          </a:xfrm>
          <a:prstGeom prst="rect">
            <a:avLst/>
          </a:prstGeom>
          <a:solidFill>
            <a:srgbClr val="1F2933"/>
          </a:solidFill>
          <a:ln>
            <a:noFill/>
          </a:ln>
          <a:effectLst/>
        </p:spPr>
        <p:txBody>
          <a:bodyPr rtlCol="0" anchor="ctr"/>
          <a:lstStyle/>
          <a:p>
            <a:pPr algn="ctr"/>
            <a:endParaRPr/>
          </a:p>
        </p:txBody>
      </p:sp>
      <p:sp>
        <p:nvSpPr>
          <p:cNvPr id="9" name="TextBox 8"/>
          <p:cNvSpPr txBox="1"/>
          <p:nvPr/>
        </p:nvSpPr>
        <p:spPr>
          <a:xfrm>
            <a:off x="1850315" y="2011680"/>
            <a:ext cx="7755187" cy="640080"/>
          </a:xfrm>
          <a:prstGeom prst="rect">
            <a:avLst/>
          </a:prstGeom>
          <a:noFill/>
        </p:spPr>
        <p:txBody>
          <a:bodyPr wrap="square" lIns="0" tIns="0" rIns="0" bIns="0" anchor="ctr">
            <a:spAutoFit/>
          </a:bodyPr>
          <a:lstStyle/>
          <a:p>
            <a:pPr algn="ctr"/>
            <a:r>
              <a:rPr sz="1600" b="1" i="0">
                <a:solidFill>
                  <a:srgbClr val="FFFFFF"/>
                </a:solidFill>
                <a:latin typeface="Arial"/>
              </a:rPr>
              <a:t>12 steps</a:t>
            </a:r>
          </a:p>
        </p:txBody>
      </p:sp>
      <p:sp>
        <p:nvSpPr>
          <p:cNvPr id="10" name="TextBox 9"/>
          <p:cNvSpPr txBox="1"/>
          <p:nvPr/>
        </p:nvSpPr>
        <p:spPr>
          <a:xfrm>
            <a:off x="1850315" y="1600200"/>
            <a:ext cx="7755187" cy="365760"/>
          </a:xfrm>
          <a:prstGeom prst="rect">
            <a:avLst/>
          </a:prstGeom>
          <a:noFill/>
        </p:spPr>
        <p:txBody>
          <a:bodyPr wrap="square" lIns="0" tIns="0" rIns="0" bIns="0" anchor="b">
            <a:spAutoFit/>
          </a:bodyPr>
          <a:lstStyle/>
          <a:p>
            <a:pPr algn="l"/>
            <a:r>
              <a:rPr sz="1600" b="1" i="0">
                <a:solidFill>
                  <a:srgbClr val="1F2933"/>
                </a:solidFill>
                <a:latin typeface="Arial"/>
              </a:rPr>
              <a:t>v2</a:t>
            </a:r>
          </a:p>
        </p:txBody>
      </p:sp>
      <p:sp>
        <p:nvSpPr>
          <p:cNvPr id="11" name="TextBox 10"/>
          <p:cNvSpPr txBox="1"/>
          <p:nvPr/>
        </p:nvSpPr>
        <p:spPr>
          <a:xfrm>
            <a:off x="9422623" y="2697480"/>
            <a:ext cx="548640" cy="365760"/>
          </a:xfrm>
          <a:prstGeom prst="rect">
            <a:avLst/>
          </a:prstGeom>
          <a:noFill/>
        </p:spPr>
        <p:txBody>
          <a:bodyPr wrap="square" lIns="0" tIns="0" rIns="0" bIns="0" anchor="t">
            <a:spAutoFit/>
          </a:bodyPr>
          <a:lstStyle/>
          <a:p>
            <a:pPr algn="ctr"/>
            <a:r>
              <a:rPr sz="2000" b="1" i="0">
                <a:solidFill>
                  <a:srgbClr val="B85014"/>
                </a:solidFill>
                <a:latin typeface="Arial"/>
              </a:rPr>
              <a:t>✗</a:t>
            </a:r>
          </a:p>
        </p:txBody>
      </p:sp>
      <p:sp>
        <p:nvSpPr>
          <p:cNvPr id="12" name="Rectangle 11"/>
          <p:cNvSpPr/>
          <p:nvPr/>
        </p:nvSpPr>
        <p:spPr>
          <a:xfrm>
            <a:off x="9660367" y="2011680"/>
            <a:ext cx="1952512" cy="640080"/>
          </a:xfrm>
          <a:prstGeom prst="rect">
            <a:avLst/>
          </a:prstGeom>
          <a:solidFill>
            <a:srgbClr val="1F5FA8"/>
          </a:solidFill>
          <a:ln>
            <a:noFill/>
          </a:ln>
          <a:effectLst/>
        </p:spPr>
        <p:txBody>
          <a:bodyPr rtlCol="0" anchor="ctr"/>
          <a:lstStyle/>
          <a:p>
            <a:pPr algn="ctr"/>
            <a:endParaRPr/>
          </a:p>
        </p:txBody>
      </p:sp>
      <p:sp>
        <p:nvSpPr>
          <p:cNvPr id="13" name="TextBox 12"/>
          <p:cNvSpPr txBox="1"/>
          <p:nvPr/>
        </p:nvSpPr>
        <p:spPr>
          <a:xfrm>
            <a:off x="9660367" y="2011680"/>
            <a:ext cx="1952512" cy="640080"/>
          </a:xfrm>
          <a:prstGeom prst="rect">
            <a:avLst/>
          </a:prstGeom>
          <a:noFill/>
        </p:spPr>
        <p:txBody>
          <a:bodyPr wrap="square" lIns="0" tIns="0" rIns="0" bIns="0" anchor="ctr">
            <a:spAutoFit/>
          </a:bodyPr>
          <a:lstStyle/>
          <a:p>
            <a:pPr algn="ctr"/>
            <a:r>
              <a:rPr sz="1600" b="1" i="0">
                <a:solidFill>
                  <a:srgbClr val="FFFFFF"/>
                </a:solidFill>
                <a:latin typeface="Arial"/>
              </a:rPr>
              <a:t>3 steps</a:t>
            </a:r>
          </a:p>
        </p:txBody>
      </p:sp>
      <p:sp>
        <p:nvSpPr>
          <p:cNvPr id="14" name="TextBox 13"/>
          <p:cNvSpPr txBox="1"/>
          <p:nvPr/>
        </p:nvSpPr>
        <p:spPr>
          <a:xfrm>
            <a:off x="9660367" y="1600200"/>
            <a:ext cx="1952512" cy="365760"/>
          </a:xfrm>
          <a:prstGeom prst="rect">
            <a:avLst/>
          </a:prstGeom>
          <a:noFill/>
        </p:spPr>
        <p:txBody>
          <a:bodyPr wrap="square" lIns="0" tIns="0" rIns="0" bIns="0" anchor="b">
            <a:spAutoFit/>
          </a:bodyPr>
          <a:lstStyle/>
          <a:p>
            <a:pPr algn="l"/>
            <a:r>
              <a:rPr sz="1600" b="1" i="0">
                <a:solidFill>
                  <a:srgbClr val="1F2933"/>
                </a:solidFill>
                <a:latin typeface="Arial"/>
              </a:rPr>
              <a:t>v3 (newest)</a:t>
            </a:r>
          </a:p>
        </p:txBody>
      </p:sp>
      <p:sp>
        <p:nvSpPr>
          <p:cNvPr id="15" name="TextBox 14"/>
          <p:cNvSpPr txBox="1"/>
          <p:nvPr/>
        </p:nvSpPr>
        <p:spPr>
          <a:xfrm>
            <a:off x="548640" y="2971800"/>
            <a:ext cx="11064240" cy="365760"/>
          </a:xfrm>
          <a:prstGeom prst="rect">
            <a:avLst/>
          </a:prstGeom>
          <a:noFill/>
        </p:spPr>
        <p:txBody>
          <a:bodyPr wrap="square" lIns="0" tIns="0" rIns="0" bIns="0" anchor="t">
            <a:spAutoFit/>
          </a:bodyPr>
          <a:lstStyle/>
          <a:p>
            <a:pPr algn="l"/>
            <a:r>
              <a:rPr sz="1400" b="0" i="0">
                <a:solidFill>
                  <a:srgbClr val="52606D"/>
                </a:solidFill>
                <a:latin typeface="Arial"/>
              </a:rPr>
              <a:t>✗ = a mistake. That version is replaced by v + y·x, and the new one starts counting.</a:t>
            </a:r>
          </a:p>
        </p:txBody>
      </p:sp>
      <p:sp>
        <p:nvSpPr>
          <p:cNvPr id="16" name="TextBox 15"/>
          <p:cNvSpPr txBox="1"/>
          <p:nvPr/>
        </p:nvSpPr>
        <p:spPr>
          <a:xfrm>
            <a:off x="548640" y="3566160"/>
            <a:ext cx="5943600" cy="365760"/>
          </a:xfrm>
          <a:prstGeom prst="rect">
            <a:avLst/>
          </a:prstGeom>
          <a:noFill/>
        </p:spPr>
        <p:txBody>
          <a:bodyPr wrap="square" lIns="0" tIns="0" rIns="0" bIns="0" anchor="t">
            <a:spAutoFit/>
          </a:bodyPr>
          <a:lstStyle/>
          <a:p>
            <a:pPr algn="l"/>
            <a:r>
              <a:rPr sz="1700" b="1" i="0">
                <a:solidFill>
                  <a:srgbClr val="1F2933"/>
                </a:solidFill>
                <a:latin typeface="Arial"/>
              </a:rPr>
              <a:t>A new horse comes in. Every version makes its call:</a:t>
            </a:r>
          </a:p>
        </p:txBody>
      </p:sp>
      <p:graphicFrame>
        <p:nvGraphicFramePr>
          <p:cNvPr id="17" name="Table 16"/>
          <p:cNvGraphicFramePr>
            <a:graphicFrameLocks noGrp="1"/>
          </p:cNvGraphicFramePr>
          <p:nvPr/>
        </p:nvGraphicFramePr>
        <p:xfrm>
          <a:off x="548640" y="4023360"/>
          <a:ext cx="5212080" cy="20574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11480">
                <a:tc>
                  <a:txBody>
                    <a:bodyPr/>
                    <a:lstStyle/>
                    <a:p>
                      <a:pPr algn="ctr"/>
                      <a:r>
                        <a:rPr sz="1600" b="1">
                          <a:solidFill>
                            <a:srgbClr val="1F2933"/>
                          </a:solidFill>
                          <a:latin typeface="Arial"/>
                        </a:rPr>
                        <a:t>Version</a:t>
                      </a:r>
                    </a:p>
                  </a:txBody>
                  <a:tcPr marL="64008" marR="64008" anchor="ctr">
                    <a:solidFill>
                      <a:srgbClr val="F2F4F6"/>
                    </a:solidFill>
                  </a:tcPr>
                </a:tc>
                <a:tc>
                  <a:txBody>
                    <a:bodyPr/>
                    <a:lstStyle/>
                    <a:p>
                      <a:pPr algn="ctr"/>
                      <a:r>
                        <a:rPr sz="1600" b="1">
                          <a:solidFill>
                            <a:srgbClr val="1F2933"/>
                          </a:solidFill>
                          <a:latin typeface="Arial"/>
                        </a:rPr>
                        <a:t>Lasted</a:t>
                      </a:r>
                    </a:p>
                  </a:txBody>
                  <a:tcPr marL="64008" marR="64008" anchor="ctr">
                    <a:solidFill>
                      <a:srgbClr val="F2F4F6"/>
                    </a:solidFill>
                  </a:tcPr>
                </a:tc>
                <a:tc>
                  <a:txBody>
                    <a:bodyPr/>
                    <a:lstStyle/>
                    <a:p>
                      <a:pPr algn="ctr"/>
                      <a:r>
                        <a:rPr sz="1600" b="1">
                          <a:solidFill>
                            <a:srgbClr val="1F2933"/>
                          </a:solidFill>
                          <a:latin typeface="Arial"/>
                        </a:rPr>
                        <a:t>Says</a:t>
                      </a:r>
                    </a:p>
                  </a:txBody>
                  <a:tcPr marL="64008" marR="64008" anchor="ctr">
                    <a:solidFill>
                      <a:srgbClr val="F2F4F6"/>
                    </a:solidFill>
                  </a:tcPr>
                </a:tc>
                <a:tc>
                  <a:txBody>
                    <a:bodyPr/>
                    <a:lstStyle/>
                    <a:p>
                      <a:pPr algn="ctr"/>
                      <a:r>
                        <a:rPr sz="1600" b="1">
                          <a:solidFill>
                            <a:srgbClr val="1F2933"/>
                          </a:solidFill>
                          <a:latin typeface="Arial"/>
                        </a:rPr>
                        <a:t>Vote</a:t>
                      </a:r>
                    </a:p>
                  </a:txBody>
                  <a:tcPr marL="64008" marR="64008" anchor="ctr">
                    <a:solidFill>
                      <a:srgbClr val="F2F4F6"/>
                    </a:solidFill>
                  </a:tcPr>
                </a:tc>
                <a:extLst>
                  <a:ext uri="{0D108BD9-81ED-4DB2-BD59-A6C34878D82A}">
                    <a16:rowId xmlns:a16="http://schemas.microsoft.com/office/drawing/2014/main" val="10000"/>
                  </a:ext>
                </a:extLst>
              </a:tr>
              <a:tr h="411480">
                <a:tc>
                  <a:txBody>
                    <a:bodyPr/>
                    <a:lstStyle/>
                    <a:p>
                      <a:pPr algn="ctr"/>
                      <a:r>
                        <a:rPr sz="1600" b="0">
                          <a:solidFill>
                            <a:srgbClr val="1F2933"/>
                          </a:solidFill>
                          <a:latin typeface="Arial"/>
                        </a:rPr>
                        <a:t>v1</a:t>
                      </a:r>
                    </a:p>
                  </a:txBody>
                  <a:tcPr marL="64008" marR="64008" anchor="ctr">
                    <a:solidFill>
                      <a:srgbClr val="FFFFFF"/>
                    </a:solidFill>
                  </a:tcPr>
                </a:tc>
                <a:tc>
                  <a:txBody>
                    <a:bodyPr/>
                    <a:lstStyle/>
                    <a:p>
                      <a:pPr algn="ctr"/>
                      <a:r>
                        <a:rPr sz="1600" b="0">
                          <a:solidFill>
                            <a:srgbClr val="1F2933"/>
                          </a:solidFill>
                          <a:latin typeface="Arial"/>
                        </a:rPr>
                        <a:t>2</a:t>
                      </a:r>
                    </a:p>
                  </a:txBody>
                  <a:tcPr marL="64008" marR="64008" anchor="ctr">
                    <a:solidFill>
                      <a:srgbClr val="FFFFFF"/>
                    </a:solidFill>
                  </a:tcPr>
                </a:tc>
                <a:tc>
                  <a:txBody>
                    <a:bodyPr/>
                    <a:lstStyle/>
                    <a:p>
                      <a:pPr algn="ctr"/>
                      <a:r>
                        <a:rPr sz="1600" b="0">
                          <a:solidFill>
                            <a:srgbClr val="1F2933"/>
                          </a:solidFill>
                          <a:latin typeface="Arial"/>
                        </a:rPr>
                        <a:t>win</a:t>
                      </a:r>
                    </a:p>
                  </a:txBody>
                  <a:tcPr marL="64008" marR="64008" anchor="ctr">
                    <a:solidFill>
                      <a:srgbClr val="FFFFFF"/>
                    </a:solidFill>
                  </a:tcPr>
                </a:tc>
                <a:tc>
                  <a:txBody>
                    <a:bodyPr/>
                    <a:lstStyle/>
                    <a:p>
                      <a:pPr algn="ctr"/>
                      <a:r>
                        <a:rPr sz="1600" b="0">
                          <a:solidFill>
                            <a:srgbClr val="1F2933"/>
                          </a:solidFill>
                          <a:latin typeface="Arial"/>
                        </a:rPr>
                        <a:t>+2</a:t>
                      </a:r>
                    </a:p>
                  </a:txBody>
                  <a:tcPr marL="64008" marR="64008" anchor="ctr">
                    <a:solidFill>
                      <a:srgbClr val="FFFFFF"/>
                    </a:solidFill>
                  </a:tcPr>
                </a:tc>
                <a:extLst>
                  <a:ext uri="{0D108BD9-81ED-4DB2-BD59-A6C34878D82A}">
                    <a16:rowId xmlns:a16="http://schemas.microsoft.com/office/drawing/2014/main" val="10001"/>
                  </a:ext>
                </a:extLst>
              </a:tr>
              <a:tr h="411480">
                <a:tc>
                  <a:txBody>
                    <a:bodyPr/>
                    <a:lstStyle/>
                    <a:p>
                      <a:pPr algn="ctr"/>
                      <a:r>
                        <a:rPr sz="1600" b="0">
                          <a:solidFill>
                            <a:srgbClr val="1F2933"/>
                          </a:solidFill>
                          <a:latin typeface="Arial"/>
                        </a:rPr>
                        <a:t>v2</a:t>
                      </a:r>
                    </a:p>
                  </a:txBody>
                  <a:tcPr marL="64008" marR="64008" anchor="ctr">
                    <a:solidFill>
                      <a:srgbClr val="FFFFFF"/>
                    </a:solidFill>
                  </a:tcPr>
                </a:tc>
                <a:tc>
                  <a:txBody>
                    <a:bodyPr/>
                    <a:lstStyle/>
                    <a:p>
                      <a:pPr algn="ctr"/>
                      <a:r>
                        <a:rPr sz="1600" b="0">
                          <a:solidFill>
                            <a:srgbClr val="1F2933"/>
                          </a:solidFill>
                          <a:latin typeface="Arial"/>
                        </a:rPr>
                        <a:t>12</a:t>
                      </a:r>
                    </a:p>
                  </a:txBody>
                  <a:tcPr marL="64008" marR="64008" anchor="ctr">
                    <a:solidFill>
                      <a:srgbClr val="FFFFFF"/>
                    </a:solidFill>
                  </a:tcPr>
                </a:tc>
                <a:tc>
                  <a:txBody>
                    <a:bodyPr/>
                    <a:lstStyle/>
                    <a:p>
                      <a:pPr algn="ctr"/>
                      <a:r>
                        <a:rPr sz="1600" b="0">
                          <a:solidFill>
                            <a:srgbClr val="1F2933"/>
                          </a:solidFill>
                          <a:latin typeface="Arial"/>
                        </a:rPr>
                        <a:t>lose</a:t>
                      </a:r>
                    </a:p>
                  </a:txBody>
                  <a:tcPr marL="64008" marR="64008" anchor="ctr">
                    <a:solidFill>
                      <a:srgbClr val="FFFFFF"/>
                    </a:solidFill>
                  </a:tcPr>
                </a:tc>
                <a:tc>
                  <a:txBody>
                    <a:bodyPr/>
                    <a:lstStyle/>
                    <a:p>
                      <a:pPr algn="ctr"/>
                      <a:r>
                        <a:rPr sz="1600" b="0">
                          <a:solidFill>
                            <a:srgbClr val="1F2933"/>
                          </a:solidFill>
                          <a:latin typeface="Arial"/>
                        </a:rPr>
                        <a:t>−12</a:t>
                      </a:r>
                    </a:p>
                  </a:txBody>
                  <a:tcPr marL="64008" marR="64008" anchor="ctr">
                    <a:solidFill>
                      <a:srgbClr val="FFFFFF"/>
                    </a:solidFill>
                  </a:tcPr>
                </a:tc>
                <a:extLst>
                  <a:ext uri="{0D108BD9-81ED-4DB2-BD59-A6C34878D82A}">
                    <a16:rowId xmlns:a16="http://schemas.microsoft.com/office/drawing/2014/main" val="10002"/>
                  </a:ext>
                </a:extLst>
              </a:tr>
              <a:tr h="411480">
                <a:tc>
                  <a:txBody>
                    <a:bodyPr/>
                    <a:lstStyle/>
                    <a:p>
                      <a:pPr algn="ctr"/>
                      <a:r>
                        <a:rPr sz="1600" b="0">
                          <a:solidFill>
                            <a:srgbClr val="1F2933"/>
                          </a:solidFill>
                          <a:latin typeface="Arial"/>
                        </a:rPr>
                        <a:t>v3</a:t>
                      </a:r>
                    </a:p>
                  </a:txBody>
                  <a:tcPr marL="64008" marR="64008" anchor="ctr">
                    <a:solidFill>
                      <a:srgbClr val="FFFFFF"/>
                    </a:solidFill>
                  </a:tcPr>
                </a:tc>
                <a:tc>
                  <a:txBody>
                    <a:bodyPr/>
                    <a:lstStyle/>
                    <a:p>
                      <a:pPr algn="ctr"/>
                      <a:r>
                        <a:rPr sz="1600" b="0">
                          <a:solidFill>
                            <a:srgbClr val="1F2933"/>
                          </a:solidFill>
                          <a:latin typeface="Arial"/>
                        </a:rPr>
                        <a:t>3</a:t>
                      </a:r>
                    </a:p>
                  </a:txBody>
                  <a:tcPr marL="64008" marR="64008" anchor="ctr">
                    <a:solidFill>
                      <a:srgbClr val="FFFFFF"/>
                    </a:solidFill>
                  </a:tcPr>
                </a:tc>
                <a:tc>
                  <a:txBody>
                    <a:bodyPr/>
                    <a:lstStyle/>
                    <a:p>
                      <a:pPr algn="ctr"/>
                      <a:r>
                        <a:rPr sz="1600" b="0">
                          <a:solidFill>
                            <a:srgbClr val="1F2933"/>
                          </a:solidFill>
                          <a:latin typeface="Arial"/>
                        </a:rPr>
                        <a:t>win</a:t>
                      </a:r>
                    </a:p>
                  </a:txBody>
                  <a:tcPr marL="64008" marR="64008" anchor="ctr">
                    <a:solidFill>
                      <a:srgbClr val="FFFFFF"/>
                    </a:solidFill>
                  </a:tcPr>
                </a:tc>
                <a:tc>
                  <a:txBody>
                    <a:bodyPr/>
                    <a:lstStyle/>
                    <a:p>
                      <a:pPr algn="ctr"/>
                      <a:r>
                        <a:rPr sz="1600" b="0">
                          <a:solidFill>
                            <a:srgbClr val="1F2933"/>
                          </a:solidFill>
                          <a:latin typeface="Arial"/>
                        </a:rPr>
                        <a:t>+3</a:t>
                      </a:r>
                    </a:p>
                  </a:txBody>
                  <a:tcPr marL="64008" marR="64008" anchor="ctr">
                    <a:solidFill>
                      <a:srgbClr val="FFFFFF"/>
                    </a:solidFill>
                  </a:tcPr>
                </a:tc>
                <a:extLst>
                  <a:ext uri="{0D108BD9-81ED-4DB2-BD59-A6C34878D82A}">
                    <a16:rowId xmlns:a16="http://schemas.microsoft.com/office/drawing/2014/main" val="10003"/>
                  </a:ext>
                </a:extLst>
              </a:tr>
              <a:tr h="411480">
                <a:tc>
                  <a:txBody>
                    <a:bodyPr/>
                    <a:lstStyle/>
                    <a:p>
                      <a:pPr algn="ctr"/>
                      <a:r>
                        <a:rPr sz="1600" b="1">
                          <a:solidFill>
                            <a:srgbClr val="1F2933"/>
                          </a:solidFill>
                          <a:latin typeface="Arial"/>
                        </a:rPr>
                        <a:t>Total</a:t>
                      </a:r>
                    </a:p>
                  </a:txBody>
                  <a:tcPr marL="64008" marR="64008" anchor="ctr">
                    <a:solidFill>
                      <a:srgbClr val="F2F4F6"/>
                    </a:solidFill>
                  </a:tcPr>
                </a:tc>
                <a:tc>
                  <a:txBody>
                    <a:bodyPr/>
                    <a:lstStyle/>
                    <a:p>
                      <a:pPr algn="ctr"/>
                      <a:endParaRPr/>
                    </a:p>
                  </a:txBody>
                  <a:tcPr marL="64008" marR="64008" anchor="ctr">
                    <a:solidFill>
                      <a:srgbClr val="F2F4F6"/>
                    </a:solidFill>
                  </a:tcPr>
                </a:tc>
                <a:tc>
                  <a:txBody>
                    <a:bodyPr/>
                    <a:lstStyle/>
                    <a:p>
                      <a:pPr algn="ctr"/>
                      <a:endParaRPr/>
                    </a:p>
                  </a:txBody>
                  <a:tcPr marL="64008" marR="64008" anchor="ctr">
                    <a:solidFill>
                      <a:srgbClr val="F2F4F6"/>
                    </a:solidFill>
                  </a:tcPr>
                </a:tc>
                <a:tc>
                  <a:txBody>
                    <a:bodyPr/>
                    <a:lstStyle/>
                    <a:p>
                      <a:pPr algn="ctr"/>
                      <a:r>
                        <a:rPr sz="1600" b="1">
                          <a:solidFill>
                            <a:srgbClr val="1F2933"/>
                          </a:solidFill>
                          <a:latin typeface="Arial"/>
                        </a:rPr>
                        <a:t>−7</a:t>
                      </a:r>
                    </a:p>
                  </a:txBody>
                  <a:tcPr marL="64008" marR="64008" anchor="ctr">
                    <a:solidFill>
                      <a:srgbClr val="F2F4F6"/>
                    </a:solidFill>
                  </a:tcPr>
                </a:tc>
                <a:extLst>
                  <a:ext uri="{0D108BD9-81ED-4DB2-BD59-A6C34878D82A}">
                    <a16:rowId xmlns:a16="http://schemas.microsoft.com/office/drawing/2014/main" val="10004"/>
                  </a:ext>
                </a:extLst>
              </a:tr>
            </a:tbl>
          </a:graphicData>
        </a:graphic>
      </p:graphicFrame>
      <p:sp>
        <p:nvSpPr>
          <p:cNvPr id="18" name="Rectangle 17"/>
          <p:cNvSpPr/>
          <p:nvPr/>
        </p:nvSpPr>
        <p:spPr>
          <a:xfrm>
            <a:off x="6400800" y="4023360"/>
            <a:ext cx="5212080" cy="960120"/>
          </a:xfrm>
          <a:prstGeom prst="rect">
            <a:avLst/>
          </a:prstGeom>
          <a:solidFill>
            <a:srgbClr val="F2F4F6"/>
          </a:solidFill>
          <a:ln>
            <a:noFill/>
          </a:ln>
          <a:effectLst/>
        </p:spPr>
        <p:txBody>
          <a:bodyPr rtlCol="0" anchor="ctr"/>
          <a:lstStyle/>
          <a:p>
            <a:pPr algn="ctr"/>
            <a:endParaRPr/>
          </a:p>
        </p:txBody>
      </p:sp>
      <p:sp>
        <p:nvSpPr>
          <p:cNvPr id="19" name="Rectangle 18"/>
          <p:cNvSpPr/>
          <p:nvPr/>
        </p:nvSpPr>
        <p:spPr>
          <a:xfrm>
            <a:off x="6400800" y="5120640"/>
            <a:ext cx="5212080" cy="960120"/>
          </a:xfrm>
          <a:prstGeom prst="rect">
            <a:avLst/>
          </a:prstGeom>
          <a:solidFill>
            <a:srgbClr val="EAF0F8"/>
          </a:solidFill>
          <a:ln>
            <a:noFill/>
          </a:ln>
          <a:effectLst/>
        </p:spPr>
        <p:txBody>
          <a:bodyPr rtlCol="0" anchor="ctr"/>
          <a:lstStyle/>
          <a:p>
            <a:pPr algn="ctr"/>
            <a:endParaRPr/>
          </a:p>
        </p:txBody>
      </p:sp>
      <p:sp>
        <p:nvSpPr>
          <p:cNvPr id="20" name="TextBox 19"/>
          <p:cNvSpPr txBox="1"/>
          <p:nvPr/>
        </p:nvSpPr>
        <p:spPr>
          <a:xfrm>
            <a:off x="6675120" y="4023360"/>
            <a:ext cx="4754880" cy="960120"/>
          </a:xfrm>
          <a:prstGeom prst="rect">
            <a:avLst/>
          </a:prstGeom>
          <a:noFill/>
        </p:spPr>
        <p:txBody>
          <a:bodyPr wrap="square" lIns="0" tIns="0" rIns="0" bIns="0" anchor="ctr">
            <a:spAutoFit/>
          </a:bodyPr>
          <a:lstStyle/>
          <a:p>
            <a:pPr algn="l"/>
            <a:r>
              <a:rPr sz="2000" b="1" i="0">
                <a:solidFill>
                  <a:srgbClr val="1F2933"/>
                </a:solidFill>
                <a:latin typeface="Arial"/>
              </a:rPr>
              <a:t>Classic (v3 only):  </a:t>
            </a:r>
            <a:r>
              <a:rPr sz="2000" b="1" i="0">
                <a:solidFill>
                  <a:srgbClr val="1F5FA8"/>
                </a:solidFill>
                <a:latin typeface="Arial"/>
              </a:rPr>
              <a:t>win</a:t>
            </a:r>
          </a:p>
        </p:txBody>
      </p:sp>
      <p:sp>
        <p:nvSpPr>
          <p:cNvPr id="21" name="TextBox 20"/>
          <p:cNvSpPr txBox="1"/>
          <p:nvPr/>
        </p:nvSpPr>
        <p:spPr>
          <a:xfrm>
            <a:off x="6675120" y="5120640"/>
            <a:ext cx="4754880" cy="960120"/>
          </a:xfrm>
          <a:prstGeom prst="rect">
            <a:avLst/>
          </a:prstGeom>
          <a:noFill/>
        </p:spPr>
        <p:txBody>
          <a:bodyPr wrap="square" lIns="0" tIns="0" rIns="0" bIns="0" anchor="ctr">
            <a:spAutoFit/>
          </a:bodyPr>
          <a:lstStyle/>
          <a:p>
            <a:pPr algn="l"/>
            <a:r>
              <a:rPr sz="2000" b="1" i="0">
                <a:solidFill>
                  <a:srgbClr val="1F2933"/>
                </a:solidFill>
                <a:latin typeface="Arial"/>
              </a:rPr>
              <a:t>Voted (−7):  </a:t>
            </a:r>
            <a:r>
              <a:rPr sz="2000" b="1" i="0">
                <a:solidFill>
                  <a:srgbClr val="B85014"/>
                </a:solidFill>
                <a:latin typeface="Arial"/>
              </a:rPr>
              <a:t>lose</a:t>
            </a:r>
            <a:r>
              <a:rPr sz="1500" b="0" i="0">
                <a:solidFill>
                  <a:srgbClr val="52606D"/>
                </a:solidFill>
                <a:latin typeface="Arial"/>
              </a:rPr>
              <a:t>   v2's long track record wins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VOTED 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The algorithm (Figure 1)</a:t>
            </a:r>
          </a:p>
        </p:txBody>
      </p:sp>
      <p:sp>
        <p:nvSpPr>
          <p:cNvPr id="4" name="Rectangle 3"/>
          <p:cNvSpPr/>
          <p:nvPr/>
        </p:nvSpPr>
        <p:spPr>
          <a:xfrm>
            <a:off x="548640" y="1691640"/>
            <a:ext cx="6309360" cy="4434840"/>
          </a:xfrm>
          <a:prstGeom prst="rect">
            <a:avLst/>
          </a:prstGeom>
          <a:solidFill>
            <a:srgbClr val="1F2933"/>
          </a:solidFill>
          <a:ln>
            <a:noFill/>
          </a:ln>
          <a:effectLst/>
        </p:spPr>
        <p:txBody>
          <a:bodyPr rtlCol="0" anchor="ctr"/>
          <a:lstStyle/>
          <a:p>
            <a:pPr algn="ctr"/>
            <a:endParaRPr/>
          </a:p>
        </p:txBody>
      </p:sp>
      <p:sp>
        <p:nvSpPr>
          <p:cNvPr id="5" name="TextBox 4"/>
          <p:cNvSpPr txBox="1"/>
          <p:nvPr/>
        </p:nvSpPr>
        <p:spPr>
          <a:xfrm>
            <a:off x="868680" y="1920240"/>
            <a:ext cx="5760720" cy="4023360"/>
          </a:xfrm>
          <a:prstGeom prst="rect">
            <a:avLst/>
          </a:prstGeom>
          <a:noFill/>
        </p:spPr>
        <p:txBody>
          <a:bodyPr wrap="square" lIns="0" tIns="0" rIns="0" bIns="0" anchor="t">
            <a:spAutoFit/>
          </a:bodyPr>
          <a:lstStyle/>
          <a:p>
            <a:pPr algn="l"/>
            <a:r>
              <a:rPr sz="1700" b="1" i="0">
                <a:solidFill>
                  <a:srgbClr val="F2B48C"/>
                </a:solidFill>
                <a:latin typeface="Arial"/>
              </a:rPr>
              <a:t>Training</a:t>
            </a:r>
          </a:p>
          <a:p>
            <a:pPr algn="l"/>
            <a:r>
              <a:rPr sz="1700" b="0" i="0">
                <a:solidFill>
                  <a:srgbClr val="FFFFFF"/>
                </a:solidFill>
                <a:latin typeface="Courier New"/>
              </a:rPr>
              <a:t>v = 0;  count = 0</a:t>
            </a:r>
          </a:p>
          <a:p>
            <a:pPr algn="l"/>
            <a:r>
              <a:rPr sz="1700" b="0" i="0">
                <a:solidFill>
                  <a:srgbClr val="FFFFFF"/>
                </a:solidFill>
                <a:latin typeface="Courier New"/>
              </a:rPr>
              <a:t>for each horse (x, y):</a:t>
            </a:r>
          </a:p>
          <a:p>
            <a:pPr algn="l"/>
            <a:r>
              <a:rPr sz="1700" b="0" i="0">
                <a:solidFill>
                  <a:srgbClr val="FFFFFF"/>
                </a:solidFill>
                <a:latin typeface="Courier New"/>
              </a:rPr>
              <a:t>  if sign(v·x) == y:</a:t>
            </a:r>
          </a:p>
          <a:p>
            <a:pPr algn="l"/>
            <a:r>
              <a:rPr sz="1700" b="0" i="0">
                <a:solidFill>
                  <a:srgbClr val="FFFFFF"/>
                </a:solidFill>
                <a:latin typeface="Courier New"/>
              </a:rPr>
              <a:t>    count = count + 1</a:t>
            </a:r>
          </a:p>
          <a:p>
            <a:pPr algn="l"/>
            <a:r>
              <a:rPr sz="1700" b="0" i="0">
                <a:solidFill>
                  <a:srgbClr val="FFFFFF"/>
                </a:solidFill>
                <a:latin typeface="Courier New"/>
              </a:rPr>
              <a:t>  else:</a:t>
            </a:r>
          </a:p>
          <a:p>
            <a:pPr algn="l"/>
            <a:r>
              <a:rPr sz="1700" b="1" i="0">
                <a:solidFill>
                  <a:srgbClr val="F2B48C"/>
                </a:solidFill>
                <a:latin typeface="Courier New"/>
              </a:rPr>
              <a:t>    save (v, count)</a:t>
            </a:r>
          </a:p>
          <a:p>
            <a:pPr algn="l"/>
            <a:r>
              <a:rPr sz="1700" b="0" i="0">
                <a:solidFill>
                  <a:srgbClr val="FFFFFF"/>
                </a:solidFill>
                <a:latin typeface="Courier New"/>
              </a:rPr>
              <a:t>    v = v + y·x</a:t>
            </a:r>
          </a:p>
          <a:p>
            <a:pPr algn="l"/>
            <a:r>
              <a:rPr sz="1700" b="0" i="0">
                <a:solidFill>
                  <a:srgbClr val="FFFFFF"/>
                </a:solidFill>
                <a:latin typeface="Courier New"/>
              </a:rPr>
              <a:t>    count = 1</a:t>
            </a:r>
          </a:p>
          <a:p>
            <a:pPr algn="l"/>
            <a:endParaRPr sz="1700" b="0" i="0">
              <a:solidFill>
                <a:srgbClr val="FFFFFF"/>
              </a:solidFill>
              <a:latin typeface="Courier New"/>
            </a:endParaRPr>
          </a:p>
          <a:p>
            <a:pPr algn="l"/>
            <a:r>
              <a:rPr sz="1700" b="1" i="0">
                <a:solidFill>
                  <a:srgbClr val="F2B48C"/>
                </a:solidFill>
                <a:latin typeface="Arial"/>
              </a:rPr>
              <a:t>Prediction</a:t>
            </a:r>
          </a:p>
          <a:p>
            <a:pPr algn="l"/>
            <a:r>
              <a:rPr sz="1700" b="0" i="0">
                <a:solidFill>
                  <a:srgbClr val="FFFFFF"/>
                </a:solidFill>
                <a:latin typeface="Courier New"/>
              </a:rPr>
              <a:t>score = Σ count_k · sign(v_k·x)</a:t>
            </a:r>
          </a:p>
          <a:p>
            <a:pPr algn="l"/>
            <a:r>
              <a:rPr sz="1700" b="0" i="0">
                <a:solidFill>
                  <a:srgbClr val="FFFFFF"/>
                </a:solidFill>
                <a:latin typeface="Courier New"/>
              </a:rPr>
              <a:t>predict sign(score)</a:t>
            </a:r>
          </a:p>
        </p:txBody>
      </p:sp>
      <p:sp>
        <p:nvSpPr>
          <p:cNvPr id="6" name="TextBox 5"/>
          <p:cNvSpPr txBox="1"/>
          <p:nvPr/>
        </p:nvSpPr>
        <p:spPr>
          <a:xfrm>
            <a:off x="7223760" y="1691640"/>
            <a:ext cx="4389120" cy="457200"/>
          </a:xfrm>
          <a:prstGeom prst="rect">
            <a:avLst/>
          </a:prstGeom>
          <a:noFill/>
        </p:spPr>
        <p:txBody>
          <a:bodyPr wrap="square" lIns="0" tIns="0" rIns="0" bIns="0" anchor="t">
            <a:spAutoFit/>
          </a:bodyPr>
          <a:lstStyle/>
          <a:p>
            <a:pPr algn="l"/>
            <a:r>
              <a:rPr sz="1900" b="1" i="0">
                <a:solidFill>
                  <a:srgbClr val="1F2933"/>
                </a:solidFill>
                <a:latin typeface="Arial"/>
              </a:rPr>
              <a:t>What's new vs. the perceptron</a:t>
            </a:r>
          </a:p>
        </p:txBody>
      </p:sp>
      <p:sp>
        <p:nvSpPr>
          <p:cNvPr id="7" name="Rectangle 6"/>
          <p:cNvSpPr/>
          <p:nvPr/>
        </p:nvSpPr>
        <p:spPr>
          <a:xfrm>
            <a:off x="7223760" y="2240280"/>
            <a:ext cx="4389120" cy="1143000"/>
          </a:xfrm>
          <a:prstGeom prst="rect">
            <a:avLst/>
          </a:prstGeom>
          <a:solidFill>
            <a:srgbClr val="F2F4F6"/>
          </a:solidFill>
          <a:ln>
            <a:noFill/>
          </a:ln>
          <a:effectLst/>
        </p:spPr>
        <p:txBody>
          <a:bodyPr rtlCol="0" anchor="ctr"/>
          <a:lstStyle/>
          <a:p>
            <a:pPr algn="ctr"/>
            <a:endParaRPr/>
          </a:p>
        </p:txBody>
      </p:sp>
      <p:sp>
        <p:nvSpPr>
          <p:cNvPr id="8" name="TextBox 7"/>
          <p:cNvSpPr txBox="1"/>
          <p:nvPr/>
        </p:nvSpPr>
        <p:spPr>
          <a:xfrm>
            <a:off x="7452360" y="2240280"/>
            <a:ext cx="3931920" cy="1143000"/>
          </a:xfrm>
          <a:prstGeom prst="rect">
            <a:avLst/>
          </a:prstGeom>
          <a:noFill/>
        </p:spPr>
        <p:txBody>
          <a:bodyPr wrap="square" lIns="0" tIns="0" rIns="0" bIns="0" anchor="ctr">
            <a:spAutoFit/>
          </a:bodyPr>
          <a:lstStyle/>
          <a:p>
            <a:pPr algn="l">
              <a:spcAft>
                <a:spcPts val="400"/>
              </a:spcAft>
            </a:pPr>
            <a:r>
              <a:rPr sz="1600" b="1" i="0">
                <a:solidFill>
                  <a:srgbClr val="1F2933"/>
                </a:solidFill>
                <a:latin typeface="Arial"/>
              </a:rPr>
              <a:t>1  Training</a:t>
            </a:r>
          </a:p>
          <a:p>
            <a:pPr algn="l">
              <a:spcAft>
                <a:spcPts val="400"/>
              </a:spcAft>
            </a:pPr>
            <a:r>
              <a:rPr sz="1600" b="0" i="0">
                <a:solidFill>
                  <a:srgbClr val="1F2933"/>
                </a:solidFill>
                <a:latin typeface="Arial"/>
              </a:rPr>
              <a:t>On a mistake, save the old v and its count.</a:t>
            </a:r>
          </a:p>
        </p:txBody>
      </p:sp>
      <p:sp>
        <p:nvSpPr>
          <p:cNvPr id="9" name="Rectangle 8"/>
          <p:cNvSpPr/>
          <p:nvPr/>
        </p:nvSpPr>
        <p:spPr>
          <a:xfrm>
            <a:off x="7223760" y="3520440"/>
            <a:ext cx="4389120" cy="1325880"/>
          </a:xfrm>
          <a:prstGeom prst="rect">
            <a:avLst/>
          </a:prstGeom>
          <a:solidFill>
            <a:srgbClr val="1F2933"/>
          </a:solidFill>
          <a:ln>
            <a:noFill/>
          </a:ln>
          <a:effectLst/>
        </p:spPr>
        <p:txBody>
          <a:bodyPr rtlCol="0" anchor="ctr"/>
          <a:lstStyle/>
          <a:p>
            <a:pPr algn="ctr"/>
            <a:endParaRPr/>
          </a:p>
        </p:txBody>
      </p:sp>
      <p:sp>
        <p:nvSpPr>
          <p:cNvPr id="10" name="TextBox 9"/>
          <p:cNvSpPr txBox="1"/>
          <p:nvPr/>
        </p:nvSpPr>
        <p:spPr>
          <a:xfrm>
            <a:off x="7452360" y="3566160"/>
            <a:ext cx="3931920" cy="1234440"/>
          </a:xfrm>
          <a:prstGeom prst="rect">
            <a:avLst/>
          </a:prstGeom>
          <a:noFill/>
        </p:spPr>
        <p:txBody>
          <a:bodyPr wrap="square" lIns="0" tIns="0" rIns="0" bIns="0" anchor="ctr">
            <a:spAutoFit/>
          </a:bodyPr>
          <a:lstStyle/>
          <a:p>
            <a:pPr algn="l">
              <a:spcAft>
                <a:spcPts val="400"/>
              </a:spcAft>
            </a:pPr>
            <a:r>
              <a:rPr sz="1400" b="1" i="0">
                <a:solidFill>
                  <a:srgbClr val="F2B48C"/>
                </a:solidFill>
                <a:latin typeface="Arial"/>
              </a:rPr>
              <a:t>Output of training: a list of pairs</a:t>
            </a:r>
          </a:p>
          <a:p>
            <a:pPr algn="l">
              <a:spcAft>
                <a:spcPts val="400"/>
              </a:spcAft>
            </a:pPr>
            <a:r>
              <a:rPr sz="1500" b="1" i="0">
                <a:solidFill>
                  <a:srgbClr val="FFFFFF"/>
                </a:solidFill>
                <a:latin typeface="Courier New"/>
              </a:rPr>
              <a:t>&lt;(v1,c1), (v2,c2), …, (vk,ck)&gt;</a:t>
            </a:r>
          </a:p>
          <a:p>
            <a:pPr algn="l">
              <a:spcAft>
                <a:spcPts val="400"/>
              </a:spcAft>
            </a:pPr>
            <a:r>
              <a:rPr sz="1500" b="0" i="0">
                <a:solidFill>
                  <a:srgbClr val="C9D1D9"/>
                </a:solidFill>
                <a:latin typeface="Courier New"/>
              </a:rPr>
              <a:t>ours: &lt;(v1,2), (v2,12), (v3,3)&gt;</a:t>
            </a:r>
          </a:p>
        </p:txBody>
      </p:sp>
      <p:sp>
        <p:nvSpPr>
          <p:cNvPr id="11" name="Rectangle 10"/>
          <p:cNvSpPr/>
          <p:nvPr/>
        </p:nvSpPr>
        <p:spPr>
          <a:xfrm>
            <a:off x="7223760" y="4983480"/>
            <a:ext cx="4389120" cy="1143000"/>
          </a:xfrm>
          <a:prstGeom prst="rect">
            <a:avLst/>
          </a:prstGeom>
          <a:solidFill>
            <a:srgbClr val="F2F4F6"/>
          </a:solidFill>
          <a:ln>
            <a:noFill/>
          </a:ln>
          <a:effectLst/>
        </p:spPr>
        <p:txBody>
          <a:bodyPr rtlCol="0" anchor="ctr"/>
          <a:lstStyle/>
          <a:p>
            <a:pPr algn="ctr"/>
            <a:endParaRPr/>
          </a:p>
        </p:txBody>
      </p:sp>
      <p:sp>
        <p:nvSpPr>
          <p:cNvPr id="12" name="TextBox 11"/>
          <p:cNvSpPr txBox="1"/>
          <p:nvPr/>
        </p:nvSpPr>
        <p:spPr>
          <a:xfrm>
            <a:off x="7452360" y="4983480"/>
            <a:ext cx="3931920" cy="1143000"/>
          </a:xfrm>
          <a:prstGeom prst="rect">
            <a:avLst/>
          </a:prstGeom>
          <a:noFill/>
        </p:spPr>
        <p:txBody>
          <a:bodyPr wrap="square" lIns="0" tIns="0" rIns="0" bIns="0" anchor="ctr">
            <a:spAutoFit/>
          </a:bodyPr>
          <a:lstStyle/>
          <a:p>
            <a:pPr algn="l">
              <a:spcAft>
                <a:spcPts val="400"/>
              </a:spcAft>
            </a:pPr>
            <a:r>
              <a:rPr sz="1600" b="1" i="0">
                <a:solidFill>
                  <a:srgbClr val="1F2933"/>
                </a:solidFill>
                <a:latin typeface="Arial"/>
              </a:rPr>
              <a:t>2  Prediction</a:t>
            </a:r>
          </a:p>
          <a:p>
            <a:pPr algn="l">
              <a:spcAft>
                <a:spcPts val="400"/>
              </a:spcAft>
            </a:pPr>
            <a:r>
              <a:rPr sz="1600" b="0" i="0">
                <a:solidFill>
                  <a:srgbClr val="1F2933"/>
                </a:solidFill>
                <a:latin typeface="Arial"/>
              </a:rPr>
              <a:t>Every saved v votes win or lose, times its count.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VOTED PERCEPTRON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How it runs, and what it's good and bad at</a:t>
            </a:r>
          </a:p>
        </p:txBody>
      </p:sp>
      <p:sp>
        <p:nvSpPr>
          <p:cNvPr id="4" name="Rectangle 3"/>
          <p:cNvSpPr/>
          <p:nvPr/>
        </p:nvSpPr>
        <p:spPr>
          <a:xfrm>
            <a:off x="548640" y="2438901"/>
            <a:ext cx="578618" cy="578618"/>
          </a:xfrm>
          <a:prstGeom prst="rect">
            <a:avLst/>
          </a:prstGeom>
          <a:solidFill>
            <a:srgbClr val="9AA5B1"/>
          </a:solidFill>
          <a:ln>
            <a:noFill/>
          </a:ln>
          <a:effectLst/>
        </p:spPr>
        <p:txBody>
          <a:bodyPr rtlCol="0" anchor="ctr"/>
          <a:lstStyle/>
          <a:p>
            <a:pPr algn="ctr"/>
            <a:endParaRPr/>
          </a:p>
        </p:txBody>
      </p:sp>
      <p:sp>
        <p:nvSpPr>
          <p:cNvPr id="5" name="TextBox 4"/>
          <p:cNvSpPr txBox="1"/>
          <p:nvPr/>
        </p:nvSpPr>
        <p:spPr>
          <a:xfrm>
            <a:off x="274320" y="3090672"/>
            <a:ext cx="1127258" cy="320040"/>
          </a:xfrm>
          <a:prstGeom prst="rect">
            <a:avLst/>
          </a:prstGeom>
          <a:noFill/>
        </p:spPr>
        <p:txBody>
          <a:bodyPr wrap="square" lIns="0" tIns="0" rIns="0" bIns="0" anchor="t">
            <a:spAutoFit/>
          </a:bodyPr>
          <a:lstStyle/>
          <a:p>
            <a:pPr algn="ctr"/>
            <a:r>
              <a:rPr sz="1600" b="1" i="0">
                <a:solidFill>
                  <a:srgbClr val="1F2933"/>
                </a:solidFill>
                <a:latin typeface="Arial"/>
              </a:rPr>
              <a:t>v1 × 2</a:t>
            </a:r>
          </a:p>
        </p:txBody>
      </p:sp>
      <p:sp>
        <p:nvSpPr>
          <p:cNvPr id="6" name="TextBox 5"/>
          <p:cNvSpPr txBox="1"/>
          <p:nvPr/>
        </p:nvSpPr>
        <p:spPr>
          <a:xfrm>
            <a:off x="1172978" y="2240279"/>
            <a:ext cx="457200" cy="548640"/>
          </a:xfrm>
          <a:prstGeom prst="rect">
            <a:avLst/>
          </a:prstGeom>
          <a:noFill/>
        </p:spPr>
        <p:txBody>
          <a:bodyPr wrap="square" lIns="0" tIns="0" rIns="0" bIns="0" anchor="ctr">
            <a:spAutoFit/>
          </a:bodyPr>
          <a:lstStyle/>
          <a:p>
            <a:pPr algn="ctr"/>
            <a:r>
              <a:rPr sz="2600" b="1" i="0">
                <a:solidFill>
                  <a:srgbClr val="1F2933"/>
                </a:solidFill>
                <a:latin typeface="Arial"/>
              </a:rPr>
              <a:t>+</a:t>
            </a:r>
          </a:p>
        </p:txBody>
      </p:sp>
      <p:sp>
        <p:nvSpPr>
          <p:cNvPr id="7" name="Rectangle 6"/>
          <p:cNvSpPr/>
          <p:nvPr/>
        </p:nvSpPr>
        <p:spPr>
          <a:xfrm>
            <a:off x="1675898" y="1600199"/>
            <a:ext cx="1417320" cy="1417320"/>
          </a:xfrm>
          <a:prstGeom prst="rect">
            <a:avLst/>
          </a:prstGeom>
          <a:solidFill>
            <a:srgbClr val="1F2933"/>
          </a:solidFill>
          <a:ln>
            <a:noFill/>
          </a:ln>
          <a:effectLst/>
        </p:spPr>
        <p:txBody>
          <a:bodyPr rtlCol="0" anchor="ctr"/>
          <a:lstStyle/>
          <a:p>
            <a:pPr algn="ctr"/>
            <a:endParaRPr/>
          </a:p>
        </p:txBody>
      </p:sp>
      <p:sp>
        <p:nvSpPr>
          <p:cNvPr id="8" name="TextBox 7"/>
          <p:cNvSpPr txBox="1"/>
          <p:nvPr/>
        </p:nvSpPr>
        <p:spPr>
          <a:xfrm>
            <a:off x="1401578" y="3090672"/>
            <a:ext cx="1965960" cy="320040"/>
          </a:xfrm>
          <a:prstGeom prst="rect">
            <a:avLst/>
          </a:prstGeom>
          <a:noFill/>
        </p:spPr>
        <p:txBody>
          <a:bodyPr wrap="square" lIns="0" tIns="0" rIns="0" bIns="0" anchor="t">
            <a:spAutoFit/>
          </a:bodyPr>
          <a:lstStyle/>
          <a:p>
            <a:pPr algn="ctr"/>
            <a:r>
              <a:rPr sz="1600" b="1" i="0">
                <a:solidFill>
                  <a:srgbClr val="1F2933"/>
                </a:solidFill>
                <a:latin typeface="Arial"/>
              </a:rPr>
              <a:t>v2 × 12</a:t>
            </a:r>
          </a:p>
        </p:txBody>
      </p:sp>
      <p:sp>
        <p:nvSpPr>
          <p:cNvPr id="9" name="TextBox 8"/>
          <p:cNvSpPr txBox="1"/>
          <p:nvPr/>
        </p:nvSpPr>
        <p:spPr>
          <a:xfrm>
            <a:off x="3138938" y="2240279"/>
            <a:ext cx="457200" cy="548640"/>
          </a:xfrm>
          <a:prstGeom prst="rect">
            <a:avLst/>
          </a:prstGeom>
          <a:noFill/>
        </p:spPr>
        <p:txBody>
          <a:bodyPr wrap="square" lIns="0" tIns="0" rIns="0" bIns="0" anchor="ctr">
            <a:spAutoFit/>
          </a:bodyPr>
          <a:lstStyle/>
          <a:p>
            <a:pPr algn="ctr"/>
            <a:r>
              <a:rPr sz="2600" b="1" i="0">
                <a:solidFill>
                  <a:srgbClr val="1F2933"/>
                </a:solidFill>
                <a:latin typeface="Arial"/>
              </a:rPr>
              <a:t>+</a:t>
            </a:r>
          </a:p>
        </p:txBody>
      </p:sp>
      <p:sp>
        <p:nvSpPr>
          <p:cNvPr id="10" name="Rectangle 9"/>
          <p:cNvSpPr/>
          <p:nvPr/>
        </p:nvSpPr>
        <p:spPr>
          <a:xfrm>
            <a:off x="3641858" y="2308860"/>
            <a:ext cx="708660" cy="708660"/>
          </a:xfrm>
          <a:prstGeom prst="rect">
            <a:avLst/>
          </a:prstGeom>
          <a:solidFill>
            <a:srgbClr val="1F5FA8"/>
          </a:solidFill>
          <a:ln>
            <a:noFill/>
          </a:ln>
          <a:effectLst/>
        </p:spPr>
        <p:txBody>
          <a:bodyPr rtlCol="0" anchor="ctr"/>
          <a:lstStyle/>
          <a:p>
            <a:pPr algn="ctr"/>
            <a:endParaRPr/>
          </a:p>
        </p:txBody>
      </p:sp>
      <p:sp>
        <p:nvSpPr>
          <p:cNvPr id="11" name="TextBox 10"/>
          <p:cNvSpPr txBox="1"/>
          <p:nvPr/>
        </p:nvSpPr>
        <p:spPr>
          <a:xfrm>
            <a:off x="3367538" y="3090672"/>
            <a:ext cx="1257300" cy="320040"/>
          </a:xfrm>
          <a:prstGeom prst="rect">
            <a:avLst/>
          </a:prstGeom>
          <a:noFill/>
        </p:spPr>
        <p:txBody>
          <a:bodyPr wrap="square" lIns="0" tIns="0" rIns="0" bIns="0" anchor="t">
            <a:spAutoFit/>
          </a:bodyPr>
          <a:lstStyle/>
          <a:p>
            <a:pPr algn="ctr"/>
            <a:r>
              <a:rPr sz="1600" b="1" i="0">
                <a:solidFill>
                  <a:srgbClr val="1F2933"/>
                </a:solidFill>
                <a:latin typeface="Arial"/>
              </a:rPr>
              <a:t>v3 × 3</a:t>
            </a:r>
          </a:p>
        </p:txBody>
      </p:sp>
      <p:sp>
        <p:nvSpPr>
          <p:cNvPr id="12" name="Right Arrow 11"/>
          <p:cNvSpPr/>
          <p:nvPr/>
        </p:nvSpPr>
        <p:spPr>
          <a:xfrm>
            <a:off x="4624838" y="2359152"/>
            <a:ext cx="548640" cy="320040"/>
          </a:xfrm>
          <a:prstGeom prst="rightArrow">
            <a:avLst/>
          </a:prstGeom>
          <a:solidFill>
            <a:srgbClr val="1F5FA8"/>
          </a:solidFill>
          <a:ln>
            <a:noFill/>
          </a:ln>
          <a:effectLst/>
        </p:spPr>
        <p:txBody>
          <a:bodyPr rtlCol="0" anchor="ctr"/>
          <a:lstStyle/>
          <a:p>
            <a:pPr algn="ctr"/>
            <a:endParaRPr/>
          </a:p>
        </p:txBody>
      </p:sp>
      <p:sp>
        <p:nvSpPr>
          <p:cNvPr id="13" name="TextBox 12"/>
          <p:cNvSpPr txBox="1"/>
          <p:nvPr/>
        </p:nvSpPr>
        <p:spPr>
          <a:xfrm>
            <a:off x="5402078" y="1920239"/>
            <a:ext cx="6210801" cy="1188720"/>
          </a:xfrm>
          <a:prstGeom prst="rect">
            <a:avLst/>
          </a:prstGeom>
          <a:noFill/>
        </p:spPr>
        <p:txBody>
          <a:bodyPr wrap="square" lIns="0" tIns="0" rIns="0" bIns="0" anchor="ctr">
            <a:spAutoFit/>
          </a:bodyPr>
          <a:lstStyle/>
          <a:p>
            <a:pPr algn="l">
              <a:spcAft>
                <a:spcPts val="400"/>
              </a:spcAft>
            </a:pPr>
            <a:r>
              <a:rPr sz="1800" b="1" i="0">
                <a:solidFill>
                  <a:srgbClr val="1F5FA8"/>
                </a:solidFill>
                <a:latin typeface="Arial"/>
              </a:rPr>
              <a:t>Weighted vote</a:t>
            </a:r>
          </a:p>
          <a:p>
            <a:pPr algn="l">
              <a:spcAft>
                <a:spcPts val="400"/>
              </a:spcAft>
            </a:pPr>
            <a:r>
              <a:rPr sz="1400" b="0" i="0">
                <a:solidFill>
                  <a:srgbClr val="52606D"/>
                </a:solidFill>
                <a:latin typeface="Arial"/>
              </a:rPr>
              <a:t>Box area = number of votes</a:t>
            </a:r>
          </a:p>
          <a:p>
            <a:pPr algn="l">
              <a:spcAft>
                <a:spcPts val="400"/>
              </a:spcAft>
            </a:pPr>
            <a:r>
              <a:rPr sz="1400" b="0" i="0">
                <a:solidFill>
                  <a:srgbClr val="52606D"/>
                </a:solidFill>
                <a:latin typeface="Arial"/>
              </a:rPr>
              <a:t>Same training as the perceptron. The only change is saving every version and voting.</a:t>
            </a:r>
          </a:p>
        </p:txBody>
      </p:sp>
      <p:sp>
        <p:nvSpPr>
          <p:cNvPr id="14" name="Rectangle 13"/>
          <p:cNvSpPr/>
          <p:nvPr/>
        </p:nvSpPr>
        <p:spPr>
          <a:xfrm>
            <a:off x="548640" y="3886200"/>
            <a:ext cx="5349240" cy="2331720"/>
          </a:xfrm>
          <a:prstGeom prst="rect">
            <a:avLst/>
          </a:prstGeom>
          <a:solidFill>
            <a:srgbClr val="EAF0F8"/>
          </a:solidFill>
          <a:ln>
            <a:noFill/>
          </a:ln>
          <a:effectLst/>
        </p:spPr>
        <p:txBody>
          <a:bodyPr rtlCol="0" anchor="ctr"/>
          <a:lstStyle/>
          <a:p>
            <a:pPr algn="ctr"/>
            <a:endParaRPr/>
          </a:p>
        </p:txBody>
      </p:sp>
      <p:sp>
        <p:nvSpPr>
          <p:cNvPr id="15" name="Rectangle 14"/>
          <p:cNvSpPr/>
          <p:nvPr/>
        </p:nvSpPr>
        <p:spPr>
          <a:xfrm>
            <a:off x="6263640" y="3886200"/>
            <a:ext cx="5349240" cy="2331720"/>
          </a:xfrm>
          <a:prstGeom prst="rect">
            <a:avLst/>
          </a:prstGeom>
          <a:solidFill>
            <a:srgbClr val="FBE9DD"/>
          </a:solidFill>
          <a:ln>
            <a:noFill/>
          </a:ln>
          <a:effectLst/>
        </p:spPr>
        <p:txBody>
          <a:bodyPr rtlCol="0" anchor="ctr"/>
          <a:lstStyle/>
          <a:p>
            <a:pPr algn="ctr"/>
            <a:endParaRPr/>
          </a:p>
        </p:txBody>
      </p:sp>
      <p:sp>
        <p:nvSpPr>
          <p:cNvPr id="16" name="TextBox 15"/>
          <p:cNvSpPr txBox="1"/>
          <p:nvPr/>
        </p:nvSpPr>
        <p:spPr>
          <a:xfrm>
            <a:off x="822960" y="4069080"/>
            <a:ext cx="4846320" cy="2286000"/>
          </a:xfrm>
          <a:prstGeom prst="rect">
            <a:avLst/>
          </a:prstGeom>
          <a:noFill/>
        </p:spPr>
        <p:txBody>
          <a:bodyPr wrap="square" lIns="0" tIns="0" rIns="0" bIns="0" anchor="t">
            <a:spAutoFit/>
          </a:bodyPr>
          <a:lstStyle/>
          <a:p>
            <a:pPr algn="l">
              <a:spcAft>
                <a:spcPts val="1000"/>
              </a:spcAft>
            </a:pPr>
            <a:r>
              <a:rPr sz="2200" b="1" i="0">
                <a:solidFill>
                  <a:srgbClr val="1F5FA8"/>
                </a:solidFill>
                <a:latin typeface="Arial"/>
              </a:rPr>
              <a:t>Pros</a:t>
            </a:r>
          </a:p>
          <a:p>
            <a:pPr algn="l">
              <a:spcAft>
                <a:spcPts val="1000"/>
              </a:spcAft>
            </a:pPr>
            <a:r>
              <a:rPr sz="1800" b="1" i="0">
                <a:solidFill>
                  <a:srgbClr val="1F5FA8"/>
                </a:solidFill>
                <a:latin typeface="Arial"/>
              </a:rPr>
              <a:t>Beats the last-vector perceptron (next slide)</a:t>
            </a:r>
          </a:p>
          <a:p>
            <a:pPr algn="l">
              <a:spcAft>
                <a:spcPts val="1000"/>
              </a:spcAft>
            </a:pPr>
            <a:r>
              <a:rPr sz="1800" b="0" i="0">
                <a:solidFill>
                  <a:srgbClr val="1F2933"/>
                </a:solidFill>
                <a:latin typeface="Arial"/>
              </a:rPr>
              <a:t>Uses every version, not just the newest</a:t>
            </a:r>
          </a:p>
          <a:p>
            <a:pPr algn="l">
              <a:spcAft>
                <a:spcPts val="1000"/>
              </a:spcAft>
            </a:pPr>
            <a:r>
              <a:rPr sz="1800" b="0" i="0">
                <a:solidFill>
                  <a:srgbClr val="1F2933"/>
                </a:solidFill>
                <a:latin typeface="Arial"/>
              </a:rPr>
              <a:t>One bad update can't swing the answer</a:t>
            </a:r>
          </a:p>
          <a:p>
            <a:pPr algn="l">
              <a:spcAft>
                <a:spcPts val="1000"/>
              </a:spcAft>
            </a:pPr>
            <a:r>
              <a:rPr sz="1800" b="0" i="0">
                <a:solidFill>
                  <a:srgbClr val="1F2933"/>
                </a:solidFill>
                <a:latin typeface="Arial"/>
              </a:rPr>
              <a:t>Does well even after one pass</a:t>
            </a:r>
          </a:p>
        </p:txBody>
      </p:sp>
      <p:sp>
        <p:nvSpPr>
          <p:cNvPr id="17" name="TextBox 16"/>
          <p:cNvSpPr txBox="1"/>
          <p:nvPr/>
        </p:nvSpPr>
        <p:spPr>
          <a:xfrm>
            <a:off x="6537960" y="4069080"/>
            <a:ext cx="4846320" cy="2286000"/>
          </a:xfrm>
          <a:prstGeom prst="rect">
            <a:avLst/>
          </a:prstGeom>
          <a:noFill/>
        </p:spPr>
        <p:txBody>
          <a:bodyPr wrap="square" lIns="0" tIns="0" rIns="0" bIns="0" anchor="t">
            <a:spAutoFit/>
          </a:bodyPr>
          <a:lstStyle/>
          <a:p>
            <a:pPr algn="l">
              <a:spcAft>
                <a:spcPts val="1000"/>
              </a:spcAft>
            </a:pPr>
            <a:r>
              <a:rPr sz="2200" b="1" i="0">
                <a:solidFill>
                  <a:srgbClr val="B85014"/>
                </a:solidFill>
                <a:latin typeface="Arial"/>
              </a:rPr>
              <a:t>Cons</a:t>
            </a:r>
          </a:p>
          <a:p>
            <a:pPr algn="l">
              <a:spcAft>
                <a:spcPts val="1000"/>
              </a:spcAft>
            </a:pPr>
            <a:r>
              <a:rPr sz="1800" b="0" i="0">
                <a:solidFill>
                  <a:srgbClr val="1F2933"/>
                </a:solidFill>
                <a:latin typeface="Arial"/>
              </a:rPr>
              <a:t>Has to store every version</a:t>
            </a:r>
          </a:p>
          <a:p>
            <a:pPr algn="l">
              <a:spcAft>
                <a:spcPts val="1000"/>
              </a:spcAft>
            </a:pPr>
            <a:r>
              <a:rPr sz="1800" b="0" i="0">
                <a:solidFill>
                  <a:srgbClr val="1F2933"/>
                </a:solidFill>
                <a:latin typeface="Arial"/>
              </a:rPr>
              <a:t>Prediction asks every version</a:t>
            </a:r>
          </a:p>
          <a:p>
            <a:pPr algn="l">
              <a:spcAft>
                <a:spcPts val="1000"/>
              </a:spcAft>
            </a:pPr>
            <a:r>
              <a:rPr sz="1800" b="0" i="0">
                <a:solidFill>
                  <a:srgbClr val="1F2933"/>
                </a:solidFill>
                <a:latin typeface="Arial"/>
              </a:rPr>
              <a:t>Still a bit less accurate than an SVM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IN THE PAPER  ·  TABLE 3  ·  TEST ERROR %, LOWER IS BETTER</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Vote beats Last, the classic perceptron</a:t>
            </a:r>
          </a:p>
        </p:txBody>
      </p:sp>
      <p:pic>
        <p:nvPicPr>
          <p:cNvPr id="4" name="Picture 3" descr="table3.png"/>
          <p:cNvPicPr>
            <a:picLocks noChangeAspect="1"/>
          </p:cNvPicPr>
          <p:nvPr/>
        </p:nvPicPr>
        <p:blipFill>
          <a:blip r:embed="rId3"/>
          <a:stretch>
            <a:fillRect/>
          </a:stretch>
        </p:blipFill>
        <p:spPr>
          <a:xfrm>
            <a:off x="1709928" y="1371600"/>
            <a:ext cx="8778240" cy="3958188"/>
          </a:xfrm>
          <a:prstGeom prst="rect">
            <a:avLst/>
          </a:prstGeom>
        </p:spPr>
      </p:pic>
      <p:sp>
        <p:nvSpPr>
          <p:cNvPr id="5" name="Rectangle 4"/>
          <p:cNvSpPr/>
          <p:nvPr/>
        </p:nvSpPr>
        <p:spPr>
          <a:xfrm>
            <a:off x="2640953" y="2611193"/>
            <a:ext cx="6847027" cy="186205"/>
          </a:xfrm>
          <a:prstGeom prst="rect">
            <a:avLst/>
          </a:prstGeom>
          <a:solidFill>
            <a:srgbClr val="5B95D9">
              <a:alpha val="32000"/>
            </a:srgbClr>
          </a:solidFill>
          <a:ln>
            <a:noFill/>
          </a:ln>
        </p:spPr>
        <p:txBody>
          <a:bodyPr rtlCol="0" anchor="ctr"/>
          <a:lstStyle/>
          <a:p>
            <a:pPr algn="ctr"/>
            <a:endParaRPr/>
          </a:p>
        </p:txBody>
      </p:sp>
      <p:sp>
        <p:nvSpPr>
          <p:cNvPr id="6" name="Rectangle 5"/>
          <p:cNvSpPr/>
          <p:nvPr/>
        </p:nvSpPr>
        <p:spPr>
          <a:xfrm>
            <a:off x="2640953" y="3978471"/>
            <a:ext cx="6847027" cy="186205"/>
          </a:xfrm>
          <a:prstGeom prst="rect">
            <a:avLst/>
          </a:prstGeom>
          <a:solidFill>
            <a:srgbClr val="5B95D9">
              <a:alpha val="32000"/>
            </a:srgbClr>
          </a:solidFill>
          <a:ln>
            <a:noFill/>
          </a:ln>
        </p:spPr>
        <p:txBody>
          <a:bodyPr rtlCol="0" anchor="ctr"/>
          <a:lstStyle/>
          <a:p>
            <a:pPr algn="ctr"/>
            <a:endParaRPr/>
          </a:p>
        </p:txBody>
      </p:sp>
      <p:sp>
        <p:nvSpPr>
          <p:cNvPr id="7" name="Rectangle 6"/>
          <p:cNvSpPr/>
          <p:nvPr/>
        </p:nvSpPr>
        <p:spPr>
          <a:xfrm>
            <a:off x="2640953" y="3148528"/>
            <a:ext cx="6847027" cy="186205"/>
          </a:xfrm>
          <a:prstGeom prst="rect">
            <a:avLst/>
          </a:prstGeom>
          <a:solidFill>
            <a:srgbClr val="F09A5E">
              <a:alpha val="32000"/>
            </a:srgbClr>
          </a:solidFill>
          <a:ln>
            <a:noFill/>
          </a:ln>
        </p:spPr>
        <p:txBody>
          <a:bodyPr rtlCol="0" anchor="ctr"/>
          <a:lstStyle/>
          <a:p>
            <a:pPr algn="ctr"/>
            <a:endParaRPr/>
          </a:p>
        </p:txBody>
      </p:sp>
      <p:sp>
        <p:nvSpPr>
          <p:cNvPr id="8" name="Rectangle 7"/>
          <p:cNvSpPr/>
          <p:nvPr/>
        </p:nvSpPr>
        <p:spPr>
          <a:xfrm>
            <a:off x="2640953" y="4515805"/>
            <a:ext cx="6847027" cy="186205"/>
          </a:xfrm>
          <a:prstGeom prst="rect">
            <a:avLst/>
          </a:prstGeom>
          <a:solidFill>
            <a:srgbClr val="F09A5E">
              <a:alpha val="32000"/>
            </a:srgbClr>
          </a:solidFill>
          <a:ln>
            <a:noFill/>
          </a:ln>
        </p:spPr>
        <p:txBody>
          <a:bodyPr rtlCol="0" anchor="ctr"/>
          <a:lstStyle/>
          <a:p>
            <a:pPr algn="ctr"/>
            <a:endParaRPr/>
          </a:p>
        </p:txBody>
      </p:sp>
      <p:sp>
        <p:nvSpPr>
          <p:cNvPr id="9" name="Rectangle 8"/>
          <p:cNvSpPr/>
          <p:nvPr/>
        </p:nvSpPr>
        <p:spPr>
          <a:xfrm>
            <a:off x="548640" y="5486400"/>
            <a:ext cx="2651760" cy="914400"/>
          </a:xfrm>
          <a:prstGeom prst="rect">
            <a:avLst/>
          </a:prstGeom>
          <a:solidFill>
            <a:srgbClr val="D6E4F5"/>
          </a:solidFill>
          <a:ln>
            <a:noFill/>
          </a:ln>
          <a:effectLst/>
        </p:spPr>
        <p:txBody>
          <a:bodyPr rtlCol="0" anchor="ctr"/>
          <a:lstStyle/>
          <a:p>
            <a:pPr algn="ctr"/>
            <a:endParaRPr/>
          </a:p>
        </p:txBody>
      </p:sp>
      <p:sp>
        <p:nvSpPr>
          <p:cNvPr id="10" name="TextBox 9"/>
          <p:cNvSpPr txBox="1"/>
          <p:nvPr/>
        </p:nvSpPr>
        <p:spPr>
          <a:xfrm>
            <a:off x="713232" y="5532120"/>
            <a:ext cx="2377440" cy="822960"/>
          </a:xfrm>
          <a:prstGeom prst="rect">
            <a:avLst/>
          </a:prstGeom>
          <a:noFill/>
        </p:spPr>
        <p:txBody>
          <a:bodyPr wrap="square" lIns="0" tIns="0" rIns="0" bIns="0" anchor="ctr">
            <a:spAutoFit/>
          </a:bodyPr>
          <a:lstStyle/>
          <a:p>
            <a:pPr algn="l">
              <a:spcAft>
                <a:spcPts val="200"/>
              </a:spcAft>
            </a:pPr>
            <a:r>
              <a:rPr sz="1600" b="1" i="0">
                <a:solidFill>
                  <a:srgbClr val="1F5FA8"/>
                </a:solidFill>
                <a:latin typeface="Arial"/>
              </a:rPr>
              <a:t>Vote</a:t>
            </a:r>
          </a:p>
          <a:p>
            <a:pPr algn="l">
              <a:spcAft>
                <a:spcPts val="200"/>
              </a:spcAft>
            </a:pPr>
            <a:r>
              <a:rPr sz="1300" b="0" i="0">
                <a:solidFill>
                  <a:srgbClr val="1F2933"/>
                </a:solidFill>
                <a:latin typeface="Arial"/>
              </a:rPr>
              <a:t>Every saved version votes ±1, weighted by how long it lasted</a:t>
            </a:r>
          </a:p>
        </p:txBody>
      </p:sp>
      <p:sp>
        <p:nvSpPr>
          <p:cNvPr id="11" name="Rectangle 10"/>
          <p:cNvSpPr/>
          <p:nvPr/>
        </p:nvSpPr>
        <p:spPr>
          <a:xfrm>
            <a:off x="3346704" y="5486400"/>
            <a:ext cx="2651760" cy="914400"/>
          </a:xfrm>
          <a:prstGeom prst="rect">
            <a:avLst/>
          </a:prstGeom>
          <a:solidFill>
            <a:srgbClr val="F2F4F6"/>
          </a:solidFill>
          <a:ln>
            <a:noFill/>
          </a:ln>
          <a:effectLst/>
        </p:spPr>
        <p:txBody>
          <a:bodyPr rtlCol="0" anchor="ctr"/>
          <a:lstStyle/>
          <a:p>
            <a:pPr algn="ctr"/>
            <a:endParaRPr/>
          </a:p>
        </p:txBody>
      </p:sp>
      <p:sp>
        <p:nvSpPr>
          <p:cNvPr id="12" name="TextBox 11"/>
          <p:cNvSpPr txBox="1"/>
          <p:nvPr/>
        </p:nvSpPr>
        <p:spPr>
          <a:xfrm>
            <a:off x="3511296" y="5532120"/>
            <a:ext cx="2377440" cy="822960"/>
          </a:xfrm>
          <a:prstGeom prst="rect">
            <a:avLst/>
          </a:prstGeom>
          <a:noFill/>
        </p:spPr>
        <p:txBody>
          <a:bodyPr wrap="square" lIns="0" tIns="0" rIns="0" bIns="0" anchor="ctr">
            <a:spAutoFit/>
          </a:bodyPr>
          <a:lstStyle/>
          <a:p>
            <a:pPr algn="l">
              <a:spcAft>
                <a:spcPts val="200"/>
              </a:spcAft>
            </a:pPr>
            <a:r>
              <a:rPr sz="1600" b="1" i="0">
                <a:solidFill>
                  <a:srgbClr val="1F2933"/>
                </a:solidFill>
                <a:latin typeface="Arial"/>
              </a:rPr>
              <a:t>Avg</a:t>
            </a:r>
          </a:p>
          <a:p>
            <a:pPr algn="l">
              <a:spcAft>
                <a:spcPts val="200"/>
              </a:spcAft>
            </a:pPr>
            <a:r>
              <a:rPr sz="1300" b="0" i="0">
                <a:solidFill>
                  <a:srgbClr val="1F2933"/>
                </a:solidFill>
                <a:latin typeface="Arial"/>
              </a:rPr>
              <a:t>Every version's score, weighted by how long it lasted</a:t>
            </a:r>
          </a:p>
        </p:txBody>
      </p:sp>
      <p:sp>
        <p:nvSpPr>
          <p:cNvPr id="13" name="Rectangle 12"/>
          <p:cNvSpPr/>
          <p:nvPr/>
        </p:nvSpPr>
        <p:spPr>
          <a:xfrm>
            <a:off x="6144768" y="5486400"/>
            <a:ext cx="2651760" cy="914400"/>
          </a:xfrm>
          <a:prstGeom prst="rect">
            <a:avLst/>
          </a:prstGeom>
          <a:solidFill>
            <a:srgbClr val="FBE1D0"/>
          </a:solidFill>
          <a:ln>
            <a:noFill/>
          </a:ln>
          <a:effectLst/>
        </p:spPr>
        <p:txBody>
          <a:bodyPr rtlCol="0" anchor="ctr"/>
          <a:lstStyle/>
          <a:p>
            <a:pPr algn="ctr"/>
            <a:endParaRPr/>
          </a:p>
        </p:txBody>
      </p:sp>
      <p:sp>
        <p:nvSpPr>
          <p:cNvPr id="14" name="TextBox 13"/>
          <p:cNvSpPr txBox="1"/>
          <p:nvPr/>
        </p:nvSpPr>
        <p:spPr>
          <a:xfrm>
            <a:off x="6309359" y="5532120"/>
            <a:ext cx="2377440" cy="822960"/>
          </a:xfrm>
          <a:prstGeom prst="rect">
            <a:avLst/>
          </a:prstGeom>
          <a:noFill/>
        </p:spPr>
        <p:txBody>
          <a:bodyPr wrap="square" lIns="0" tIns="0" rIns="0" bIns="0" anchor="ctr">
            <a:spAutoFit/>
          </a:bodyPr>
          <a:lstStyle/>
          <a:p>
            <a:pPr algn="l">
              <a:spcAft>
                <a:spcPts val="200"/>
              </a:spcAft>
            </a:pPr>
            <a:r>
              <a:rPr sz="1600" b="1" i="0">
                <a:solidFill>
                  <a:srgbClr val="B85014"/>
                </a:solidFill>
                <a:latin typeface="Arial"/>
              </a:rPr>
              <a:t>Last</a:t>
            </a:r>
          </a:p>
          <a:p>
            <a:pPr algn="l">
              <a:spcAft>
                <a:spcPts val="200"/>
              </a:spcAft>
            </a:pPr>
            <a:r>
              <a:rPr sz="1300" b="0" i="0">
                <a:solidFill>
                  <a:srgbClr val="1F2933"/>
                </a:solidFill>
                <a:latin typeface="Arial"/>
              </a:rPr>
              <a:t>Only the final version: the classic perceptron</a:t>
            </a:r>
          </a:p>
        </p:txBody>
      </p:sp>
      <p:sp>
        <p:nvSpPr>
          <p:cNvPr id="15" name="Rectangle 14"/>
          <p:cNvSpPr/>
          <p:nvPr/>
        </p:nvSpPr>
        <p:spPr>
          <a:xfrm>
            <a:off x="8942832" y="5486400"/>
            <a:ext cx="2651760" cy="914400"/>
          </a:xfrm>
          <a:prstGeom prst="rect">
            <a:avLst/>
          </a:prstGeom>
          <a:solidFill>
            <a:srgbClr val="F2F4F6"/>
          </a:solidFill>
          <a:ln>
            <a:noFill/>
          </a:ln>
          <a:effectLst/>
        </p:spPr>
        <p:txBody>
          <a:bodyPr rtlCol="0" anchor="ctr"/>
          <a:lstStyle/>
          <a:p>
            <a:pPr algn="ctr"/>
            <a:endParaRPr/>
          </a:p>
        </p:txBody>
      </p:sp>
      <p:sp>
        <p:nvSpPr>
          <p:cNvPr id="16" name="TextBox 15"/>
          <p:cNvSpPr txBox="1"/>
          <p:nvPr/>
        </p:nvSpPr>
        <p:spPr>
          <a:xfrm>
            <a:off x="9107424" y="5532120"/>
            <a:ext cx="2377440" cy="822960"/>
          </a:xfrm>
          <a:prstGeom prst="rect">
            <a:avLst/>
          </a:prstGeom>
          <a:noFill/>
        </p:spPr>
        <p:txBody>
          <a:bodyPr wrap="square" lIns="0" tIns="0" rIns="0" bIns="0" anchor="ctr">
            <a:spAutoFit/>
          </a:bodyPr>
          <a:lstStyle/>
          <a:p>
            <a:pPr algn="l">
              <a:spcAft>
                <a:spcPts val="200"/>
              </a:spcAft>
            </a:pPr>
            <a:r>
              <a:rPr sz="1600" b="1" i="0">
                <a:solidFill>
                  <a:srgbClr val="1F2933"/>
                </a:solidFill>
                <a:latin typeface="Arial"/>
              </a:rPr>
              <a:t>Rand</a:t>
            </a:r>
          </a:p>
          <a:p>
            <a:pPr algn="l">
              <a:spcAft>
                <a:spcPts val="200"/>
              </a:spcAft>
            </a:pPr>
            <a:r>
              <a:rPr sz="1300" b="0" i="0">
                <a:solidFill>
                  <a:srgbClr val="1F2933"/>
                </a:solidFill>
                <a:latin typeface="Arial"/>
              </a:rPr>
              <a:t>The version alive at one random step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MY IMPLEMENTATION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The experiment: can it spot malignant tumors?</a:t>
            </a:r>
          </a:p>
        </p:txBody>
      </p:sp>
      <p:sp>
        <p:nvSpPr>
          <p:cNvPr id="4" name="Rectangle 3"/>
          <p:cNvSpPr/>
          <p:nvPr/>
        </p:nvSpPr>
        <p:spPr>
          <a:xfrm>
            <a:off x="548640" y="1645920"/>
            <a:ext cx="3383280" cy="1417320"/>
          </a:xfrm>
          <a:prstGeom prst="rect">
            <a:avLst/>
          </a:prstGeom>
          <a:solidFill>
            <a:srgbClr val="F2F4F6"/>
          </a:solidFill>
          <a:ln>
            <a:noFill/>
          </a:ln>
          <a:effectLst/>
        </p:spPr>
        <p:txBody>
          <a:bodyPr rtlCol="0" anchor="ctr"/>
          <a:lstStyle/>
          <a:p>
            <a:pPr algn="ctr"/>
            <a:endParaRPr/>
          </a:p>
        </p:txBody>
      </p:sp>
      <p:sp>
        <p:nvSpPr>
          <p:cNvPr id="5" name="TextBox 4"/>
          <p:cNvSpPr txBox="1"/>
          <p:nvPr/>
        </p:nvSpPr>
        <p:spPr>
          <a:xfrm>
            <a:off x="822959" y="1737360"/>
            <a:ext cx="2926080" cy="1234440"/>
          </a:xfrm>
          <a:prstGeom prst="rect">
            <a:avLst/>
          </a:prstGeom>
          <a:noFill/>
        </p:spPr>
        <p:txBody>
          <a:bodyPr wrap="square" lIns="0" tIns="0" rIns="0" bIns="0" anchor="ctr">
            <a:spAutoFit/>
          </a:bodyPr>
          <a:lstStyle/>
          <a:p>
            <a:pPr algn="l"/>
            <a:r>
              <a:rPr sz="4000" b="1" i="0">
                <a:solidFill>
                  <a:srgbClr val="1F2933"/>
                </a:solidFill>
                <a:latin typeface="Arial"/>
              </a:rPr>
              <a:t>569</a:t>
            </a:r>
          </a:p>
          <a:p>
            <a:pPr algn="l"/>
            <a:r>
              <a:rPr sz="1500" b="0" i="0">
                <a:solidFill>
                  <a:srgbClr val="52606D"/>
                </a:solidFill>
                <a:latin typeface="Arial"/>
              </a:rPr>
              <a:t>tumors (Kaggle / UCI)</a:t>
            </a:r>
          </a:p>
        </p:txBody>
      </p:sp>
      <p:sp>
        <p:nvSpPr>
          <p:cNvPr id="6" name="Rectangle 5"/>
          <p:cNvSpPr/>
          <p:nvPr/>
        </p:nvSpPr>
        <p:spPr>
          <a:xfrm>
            <a:off x="4297679" y="1645920"/>
            <a:ext cx="3383280" cy="1417320"/>
          </a:xfrm>
          <a:prstGeom prst="rect">
            <a:avLst/>
          </a:prstGeom>
          <a:solidFill>
            <a:srgbClr val="F2F4F6"/>
          </a:solidFill>
          <a:ln>
            <a:noFill/>
          </a:ln>
          <a:effectLst/>
        </p:spPr>
        <p:txBody>
          <a:bodyPr rtlCol="0" anchor="ctr"/>
          <a:lstStyle/>
          <a:p>
            <a:pPr algn="ctr"/>
            <a:endParaRPr/>
          </a:p>
        </p:txBody>
      </p:sp>
      <p:sp>
        <p:nvSpPr>
          <p:cNvPr id="7" name="TextBox 6"/>
          <p:cNvSpPr txBox="1"/>
          <p:nvPr/>
        </p:nvSpPr>
        <p:spPr>
          <a:xfrm>
            <a:off x="4571999" y="1737360"/>
            <a:ext cx="2926080" cy="1234440"/>
          </a:xfrm>
          <a:prstGeom prst="rect">
            <a:avLst/>
          </a:prstGeom>
          <a:noFill/>
        </p:spPr>
        <p:txBody>
          <a:bodyPr wrap="square" lIns="0" tIns="0" rIns="0" bIns="0" anchor="ctr">
            <a:spAutoFit/>
          </a:bodyPr>
          <a:lstStyle/>
          <a:p>
            <a:pPr algn="l"/>
            <a:r>
              <a:rPr sz="4000" b="1" i="0">
                <a:solidFill>
                  <a:srgbClr val="1F2933"/>
                </a:solidFill>
                <a:latin typeface="Arial"/>
              </a:rPr>
              <a:t>30</a:t>
            </a:r>
          </a:p>
          <a:p>
            <a:pPr algn="l"/>
            <a:r>
              <a:rPr sz="1500" b="0" i="0">
                <a:solidFill>
                  <a:srgbClr val="52606D"/>
                </a:solidFill>
                <a:latin typeface="Arial"/>
              </a:rPr>
              <a:t>measurements of the cell nuclei per tumor</a:t>
            </a:r>
          </a:p>
        </p:txBody>
      </p:sp>
      <p:sp>
        <p:nvSpPr>
          <p:cNvPr id="8" name="Rectangle 7"/>
          <p:cNvSpPr/>
          <p:nvPr/>
        </p:nvSpPr>
        <p:spPr>
          <a:xfrm>
            <a:off x="8046719" y="1645920"/>
            <a:ext cx="3383280" cy="1417320"/>
          </a:xfrm>
          <a:prstGeom prst="rect">
            <a:avLst/>
          </a:prstGeom>
          <a:solidFill>
            <a:srgbClr val="F2F4F6"/>
          </a:solidFill>
          <a:ln>
            <a:noFill/>
          </a:ln>
          <a:effectLst/>
        </p:spPr>
        <p:txBody>
          <a:bodyPr rtlCol="0" anchor="ctr"/>
          <a:lstStyle/>
          <a:p>
            <a:pPr algn="ctr"/>
            <a:endParaRPr/>
          </a:p>
        </p:txBody>
      </p:sp>
      <p:sp>
        <p:nvSpPr>
          <p:cNvPr id="9" name="TextBox 8"/>
          <p:cNvSpPr txBox="1"/>
          <p:nvPr/>
        </p:nvSpPr>
        <p:spPr>
          <a:xfrm>
            <a:off x="8321040" y="1737360"/>
            <a:ext cx="2926080" cy="1234440"/>
          </a:xfrm>
          <a:prstGeom prst="rect">
            <a:avLst/>
          </a:prstGeom>
          <a:noFill/>
        </p:spPr>
        <p:txBody>
          <a:bodyPr wrap="square" lIns="0" tIns="0" rIns="0" bIns="0" anchor="ctr">
            <a:spAutoFit/>
          </a:bodyPr>
          <a:lstStyle/>
          <a:p>
            <a:pPr algn="l"/>
            <a:r>
              <a:rPr sz="4000" b="1" i="0">
                <a:solidFill>
                  <a:srgbClr val="1F2933"/>
                </a:solidFill>
                <a:latin typeface="Arial"/>
              </a:rPr>
              <a:t>37%</a:t>
            </a:r>
          </a:p>
          <a:p>
            <a:pPr algn="l"/>
            <a:r>
              <a:rPr sz="1500" b="0" i="0">
                <a:solidFill>
                  <a:srgbClr val="52606D"/>
                </a:solidFill>
                <a:latin typeface="Arial"/>
              </a:rPr>
              <a:t>malignant (212), the rest benign</a:t>
            </a:r>
          </a:p>
        </p:txBody>
      </p:sp>
      <p:sp>
        <p:nvSpPr>
          <p:cNvPr id="10" name="TextBox 9"/>
          <p:cNvSpPr txBox="1"/>
          <p:nvPr/>
        </p:nvSpPr>
        <p:spPr>
          <a:xfrm>
            <a:off x="548640" y="3337560"/>
            <a:ext cx="5486400" cy="365760"/>
          </a:xfrm>
          <a:prstGeom prst="rect">
            <a:avLst/>
          </a:prstGeom>
          <a:noFill/>
        </p:spPr>
        <p:txBody>
          <a:bodyPr wrap="square" lIns="0" tIns="0" rIns="0" bIns="0" anchor="t">
            <a:spAutoFit/>
          </a:bodyPr>
          <a:lstStyle/>
          <a:p>
            <a:pPr algn="l"/>
            <a:r>
              <a:rPr sz="1900" b="1" i="0">
                <a:solidFill>
                  <a:srgbClr val="1F2933"/>
                </a:solidFill>
                <a:latin typeface="Arial"/>
              </a:rPr>
              <a:t>Why this dataset</a:t>
            </a:r>
          </a:p>
        </p:txBody>
      </p:sp>
      <p:sp>
        <p:nvSpPr>
          <p:cNvPr id="11" name="TextBox 10"/>
          <p:cNvSpPr txBox="1"/>
          <p:nvPr/>
        </p:nvSpPr>
        <p:spPr>
          <a:xfrm>
            <a:off x="548640" y="3749039"/>
            <a:ext cx="5303520" cy="2377440"/>
          </a:xfrm>
          <a:prstGeom prst="rect">
            <a:avLst/>
          </a:prstGeom>
          <a:noFill/>
        </p:spPr>
        <p:txBody>
          <a:bodyPr wrap="square" lIns="0" tIns="0" rIns="0" bIns="0" anchor="t">
            <a:spAutoFit/>
          </a:bodyPr>
          <a:lstStyle/>
          <a:p>
            <a:pPr algn="l">
              <a:spcAft>
                <a:spcPts val="1000"/>
              </a:spcAft>
            </a:pPr>
            <a:r>
              <a:rPr sz="1700" b="0" i="0">
                <a:solidFill>
                  <a:srgbClr val="1F2933"/>
                </a:solidFill>
                <a:latin typeface="Arial"/>
              </a:rPr>
              <a:t>Close to linearly separable, but not perfectly, which is where voting should help</a:t>
            </a:r>
          </a:p>
          <a:p>
            <a:pPr algn="l">
              <a:spcAft>
                <a:spcPts val="1000"/>
              </a:spcAft>
            </a:pPr>
            <a:r>
              <a:rPr sz="1700" b="0" i="0">
                <a:solidFill>
                  <a:srgbClr val="1F2933"/>
                </a:solidFill>
                <a:latin typeface="Arial"/>
              </a:rPr>
              <a:t>Small and clean: all numeric, no missing values</a:t>
            </a:r>
          </a:p>
          <a:p>
            <a:pPr algn="l">
              <a:spcAft>
                <a:spcPts val="1000"/>
              </a:spcAft>
            </a:pPr>
            <a:r>
              <a:rPr sz="1700" b="0" i="0">
                <a:solidFill>
                  <a:srgbClr val="1F2933"/>
                </a:solidFill>
                <a:latin typeface="Arial"/>
              </a:rPr>
              <a:t>Each row is one breast mass, sampled with a needle and measured under a microscope</a:t>
            </a:r>
          </a:p>
        </p:txBody>
      </p:sp>
      <p:sp>
        <p:nvSpPr>
          <p:cNvPr id="12" name="TextBox 11"/>
          <p:cNvSpPr txBox="1"/>
          <p:nvPr/>
        </p:nvSpPr>
        <p:spPr>
          <a:xfrm>
            <a:off x="6263640" y="3337560"/>
            <a:ext cx="5486400" cy="365760"/>
          </a:xfrm>
          <a:prstGeom prst="rect">
            <a:avLst/>
          </a:prstGeom>
          <a:noFill/>
        </p:spPr>
        <p:txBody>
          <a:bodyPr wrap="square" lIns="0" tIns="0" rIns="0" bIns="0" anchor="t">
            <a:spAutoFit/>
          </a:bodyPr>
          <a:lstStyle/>
          <a:p>
            <a:pPr algn="l"/>
            <a:r>
              <a:rPr sz="1900" b="1" i="0">
                <a:solidFill>
                  <a:srgbClr val="1F2933"/>
                </a:solidFill>
                <a:latin typeface="Arial"/>
              </a:rPr>
              <a:t>The paper's questions, on new data</a:t>
            </a:r>
          </a:p>
        </p:txBody>
      </p:sp>
      <p:sp>
        <p:nvSpPr>
          <p:cNvPr id="13" name="Oval 12"/>
          <p:cNvSpPr/>
          <p:nvPr/>
        </p:nvSpPr>
        <p:spPr>
          <a:xfrm>
            <a:off x="6263640" y="3794760"/>
            <a:ext cx="548640" cy="548640"/>
          </a:xfrm>
          <a:prstGeom prst="ellipse">
            <a:avLst/>
          </a:prstGeom>
          <a:solidFill>
            <a:srgbClr val="1F5FA8"/>
          </a:solidFill>
          <a:ln>
            <a:noFill/>
          </a:ln>
        </p:spPr>
        <p:txBody>
          <a:bodyPr rtlCol="0" anchor="ctr"/>
          <a:lstStyle/>
          <a:p>
            <a:pPr algn="ctr"/>
            <a:endParaRPr/>
          </a:p>
        </p:txBody>
      </p:sp>
      <p:sp>
        <p:nvSpPr>
          <p:cNvPr id="14" name="TextBox 13"/>
          <p:cNvSpPr txBox="1"/>
          <p:nvPr/>
        </p:nvSpPr>
        <p:spPr>
          <a:xfrm>
            <a:off x="6263640" y="3794760"/>
            <a:ext cx="548640" cy="548640"/>
          </a:xfrm>
          <a:prstGeom prst="rect">
            <a:avLst/>
          </a:prstGeom>
          <a:noFill/>
        </p:spPr>
        <p:txBody>
          <a:bodyPr wrap="square" lIns="0" tIns="0" rIns="0" bIns="0" anchor="ctr">
            <a:spAutoFit/>
          </a:bodyPr>
          <a:lstStyle/>
          <a:p>
            <a:pPr algn="ctr"/>
            <a:r>
              <a:rPr sz="1800" b="1" i="0">
                <a:solidFill>
                  <a:srgbClr val="FFFFFF"/>
                </a:solidFill>
                <a:latin typeface="Arial"/>
              </a:rPr>
              <a:t>1</a:t>
            </a:r>
          </a:p>
        </p:txBody>
      </p:sp>
      <p:sp>
        <p:nvSpPr>
          <p:cNvPr id="15" name="TextBox 14"/>
          <p:cNvSpPr txBox="1"/>
          <p:nvPr/>
        </p:nvSpPr>
        <p:spPr>
          <a:xfrm>
            <a:off x="6995160" y="3794760"/>
            <a:ext cx="4572000" cy="548640"/>
          </a:xfrm>
          <a:prstGeom prst="rect">
            <a:avLst/>
          </a:prstGeom>
          <a:noFill/>
        </p:spPr>
        <p:txBody>
          <a:bodyPr wrap="square" lIns="0" tIns="0" rIns="0" bIns="0" anchor="ctr">
            <a:spAutoFit/>
          </a:bodyPr>
          <a:lstStyle/>
          <a:p>
            <a:pPr algn="l"/>
            <a:r>
              <a:rPr sz="1800" b="0" i="0">
                <a:solidFill>
                  <a:srgbClr val="1F2933"/>
                </a:solidFill>
                <a:latin typeface="Arial"/>
              </a:rPr>
              <a:t>Does Vote beat Last?</a:t>
            </a:r>
          </a:p>
        </p:txBody>
      </p:sp>
      <p:sp>
        <p:nvSpPr>
          <p:cNvPr id="16" name="Oval 15"/>
          <p:cNvSpPr/>
          <p:nvPr/>
        </p:nvSpPr>
        <p:spPr>
          <a:xfrm>
            <a:off x="6263640" y="4544568"/>
            <a:ext cx="548640" cy="548640"/>
          </a:xfrm>
          <a:prstGeom prst="ellipse">
            <a:avLst/>
          </a:prstGeom>
          <a:solidFill>
            <a:srgbClr val="1F5FA8"/>
          </a:solidFill>
          <a:ln>
            <a:noFill/>
          </a:ln>
        </p:spPr>
        <p:txBody>
          <a:bodyPr rtlCol="0" anchor="ctr"/>
          <a:lstStyle/>
          <a:p>
            <a:pPr algn="ctr"/>
            <a:endParaRPr/>
          </a:p>
        </p:txBody>
      </p:sp>
      <p:sp>
        <p:nvSpPr>
          <p:cNvPr id="17" name="TextBox 16"/>
          <p:cNvSpPr txBox="1"/>
          <p:nvPr/>
        </p:nvSpPr>
        <p:spPr>
          <a:xfrm>
            <a:off x="6263640" y="4544568"/>
            <a:ext cx="548640" cy="548640"/>
          </a:xfrm>
          <a:prstGeom prst="rect">
            <a:avLst/>
          </a:prstGeom>
          <a:noFill/>
        </p:spPr>
        <p:txBody>
          <a:bodyPr wrap="square" lIns="0" tIns="0" rIns="0" bIns="0" anchor="ctr">
            <a:spAutoFit/>
          </a:bodyPr>
          <a:lstStyle/>
          <a:p>
            <a:pPr algn="ctr"/>
            <a:r>
              <a:rPr sz="1800" b="1" i="0">
                <a:solidFill>
                  <a:srgbClr val="FFFFFF"/>
                </a:solidFill>
                <a:latin typeface="Arial"/>
              </a:rPr>
              <a:t>2</a:t>
            </a:r>
          </a:p>
        </p:txBody>
      </p:sp>
      <p:sp>
        <p:nvSpPr>
          <p:cNvPr id="18" name="TextBox 17"/>
          <p:cNvSpPr txBox="1"/>
          <p:nvPr/>
        </p:nvSpPr>
        <p:spPr>
          <a:xfrm>
            <a:off x="6995160" y="4544568"/>
            <a:ext cx="4572000" cy="548640"/>
          </a:xfrm>
          <a:prstGeom prst="rect">
            <a:avLst/>
          </a:prstGeom>
          <a:noFill/>
        </p:spPr>
        <p:txBody>
          <a:bodyPr wrap="square" lIns="0" tIns="0" rIns="0" bIns="0" anchor="ctr">
            <a:spAutoFit/>
          </a:bodyPr>
          <a:lstStyle/>
          <a:p>
            <a:pPr algn="l"/>
            <a:r>
              <a:rPr sz="1800" b="0" i="0">
                <a:solidFill>
                  <a:srgbClr val="1F2933"/>
                </a:solidFill>
                <a:latin typeface="Arial"/>
              </a:rPr>
              <a:t>How close is it to an SVM?</a:t>
            </a:r>
          </a:p>
        </p:txBody>
      </p:sp>
      <p:sp>
        <p:nvSpPr>
          <p:cNvPr id="19" name="Oval 18"/>
          <p:cNvSpPr/>
          <p:nvPr/>
        </p:nvSpPr>
        <p:spPr>
          <a:xfrm>
            <a:off x="6263640" y="5294376"/>
            <a:ext cx="548640" cy="548640"/>
          </a:xfrm>
          <a:prstGeom prst="ellipse">
            <a:avLst/>
          </a:prstGeom>
          <a:solidFill>
            <a:srgbClr val="1F5FA8"/>
          </a:solidFill>
          <a:ln>
            <a:noFill/>
          </a:ln>
        </p:spPr>
        <p:txBody>
          <a:bodyPr rtlCol="0" anchor="ctr"/>
          <a:lstStyle/>
          <a:p>
            <a:pPr algn="ctr"/>
            <a:endParaRPr/>
          </a:p>
        </p:txBody>
      </p:sp>
      <p:sp>
        <p:nvSpPr>
          <p:cNvPr id="20" name="TextBox 19"/>
          <p:cNvSpPr txBox="1"/>
          <p:nvPr/>
        </p:nvSpPr>
        <p:spPr>
          <a:xfrm>
            <a:off x="6263640" y="5294376"/>
            <a:ext cx="548640" cy="548640"/>
          </a:xfrm>
          <a:prstGeom prst="rect">
            <a:avLst/>
          </a:prstGeom>
          <a:noFill/>
        </p:spPr>
        <p:txBody>
          <a:bodyPr wrap="square" lIns="0" tIns="0" rIns="0" bIns="0" anchor="ctr">
            <a:spAutoFit/>
          </a:bodyPr>
          <a:lstStyle/>
          <a:p>
            <a:pPr algn="ctr"/>
            <a:r>
              <a:rPr sz="1800" b="1" i="0">
                <a:solidFill>
                  <a:srgbClr val="FFFFFF"/>
                </a:solidFill>
                <a:latin typeface="Arial"/>
              </a:rPr>
              <a:t>3</a:t>
            </a:r>
          </a:p>
        </p:txBody>
      </p:sp>
      <p:sp>
        <p:nvSpPr>
          <p:cNvPr id="21" name="TextBox 20"/>
          <p:cNvSpPr txBox="1"/>
          <p:nvPr/>
        </p:nvSpPr>
        <p:spPr>
          <a:xfrm>
            <a:off x="6995160" y="5294376"/>
            <a:ext cx="4572000" cy="548640"/>
          </a:xfrm>
          <a:prstGeom prst="rect">
            <a:avLst/>
          </a:prstGeom>
          <a:noFill/>
        </p:spPr>
        <p:txBody>
          <a:bodyPr wrap="square" lIns="0" tIns="0" rIns="0" bIns="0" anchor="ctr">
            <a:spAutoFit/>
          </a:bodyPr>
          <a:lstStyle/>
          <a:p>
            <a:pPr algn="l"/>
            <a:r>
              <a:rPr sz="1800" b="0" i="0">
                <a:solidFill>
                  <a:srgbClr val="1F2933"/>
                </a:solidFill>
                <a:latin typeface="Arial"/>
              </a:rPr>
              <a:t>What does it cost in time?</a:t>
            </a:r>
          </a:p>
        </p:txBody>
      </p:sp>
      <p:sp>
        <p:nvSpPr>
          <p:cNvPr id="22" name="TextBox 21"/>
          <p:cNvSpPr txBox="1"/>
          <p:nvPr/>
        </p:nvSpPr>
        <p:spPr>
          <a:xfrm>
            <a:off x="548640" y="6263640"/>
            <a:ext cx="11064240" cy="320040"/>
          </a:xfrm>
          <a:prstGeom prst="rect">
            <a:avLst/>
          </a:prstGeom>
          <a:noFill/>
        </p:spPr>
        <p:txBody>
          <a:bodyPr wrap="square" lIns="0" tIns="0" rIns="0" bIns="0" anchor="t">
            <a:spAutoFit/>
          </a:bodyPr>
          <a:lstStyle/>
          <a:p>
            <a:pPr algn="l"/>
            <a:r>
              <a:rPr sz="1300" b="0" i="0">
                <a:solidFill>
                  <a:srgbClr val="52606D"/>
                </a:solidFill>
                <a:latin typeface="Arial"/>
              </a:rPr>
              <a:t>Setup: malignant = +1, benign = −1. Standardized features, 80/20 train/test split, d = 1, T = 1 and 3, mean of 50 runs.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0972800" cy="320040"/>
          </a:xfrm>
          <a:prstGeom prst="rect">
            <a:avLst/>
          </a:prstGeom>
          <a:noFill/>
        </p:spPr>
        <p:txBody>
          <a:bodyPr wrap="square" lIns="0" tIns="0" rIns="0" bIns="0" anchor="t">
            <a:spAutoFit/>
          </a:bodyPr>
          <a:lstStyle/>
          <a:p>
            <a:pPr algn="l"/>
            <a:r>
              <a:rPr sz="1300" b="1" i="0">
                <a:solidFill>
                  <a:srgbClr val="52606D"/>
                </a:solidFill>
                <a:latin typeface="Arial"/>
              </a:rPr>
              <a:t>MY IMPLEMENTATION</a:t>
            </a:r>
          </a:p>
        </p:txBody>
      </p:sp>
      <p:sp>
        <p:nvSpPr>
          <p:cNvPr id="3" name="TextBox 2"/>
          <p:cNvSpPr txBox="1"/>
          <p:nvPr/>
        </p:nvSpPr>
        <p:spPr>
          <a:xfrm>
            <a:off x="548640" y="640080"/>
            <a:ext cx="11064240" cy="822960"/>
          </a:xfrm>
          <a:prstGeom prst="rect">
            <a:avLst/>
          </a:prstGeom>
          <a:noFill/>
        </p:spPr>
        <p:txBody>
          <a:bodyPr wrap="square" lIns="0" tIns="0" rIns="0" bIns="0" anchor="t">
            <a:spAutoFit/>
          </a:bodyPr>
          <a:lstStyle/>
          <a:p>
            <a:pPr algn="l"/>
            <a:r>
              <a:rPr sz="3200" b="1" i="0">
                <a:solidFill>
                  <a:srgbClr val="1F2933"/>
                </a:solidFill>
                <a:latin typeface="Arial"/>
              </a:rPr>
              <a:t>Our run: Breast Cancer Wisconsin (d = 1)</a:t>
            </a:r>
          </a:p>
        </p:txBody>
      </p:sp>
      <p:graphicFrame>
        <p:nvGraphicFramePr>
          <p:cNvPr id="4" name="Table 3"/>
          <p:cNvGraphicFramePr>
            <a:graphicFrameLocks noGrp="1"/>
          </p:cNvGraphicFramePr>
          <p:nvPr/>
        </p:nvGraphicFramePr>
        <p:xfrm>
          <a:off x="548640" y="1554480"/>
          <a:ext cx="11064240" cy="36576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gridCol w="2468880">
                  <a:extLst>
                    <a:ext uri="{9D8B030D-6E8A-4147-A177-3AD203B41FA5}">
                      <a16:colId xmlns:a16="http://schemas.microsoft.com/office/drawing/2014/main" val="20005"/>
                    </a:ext>
                  </a:extLst>
                </a:gridCol>
              </a:tblGrid>
              <a:tr h="365760">
                <a:tc>
                  <a:txBody>
                    <a:bodyPr/>
                    <a:lstStyle/>
                    <a:p>
                      <a:pPr algn="l"/>
                      <a:endParaRPr/>
                    </a:p>
                  </a:txBody>
                  <a:tcPr marL="73152" marR="73152" anchor="ctr">
                    <a:solidFill>
                      <a:srgbClr val="F2F4F6"/>
                    </a:solidFill>
                  </a:tcPr>
                </a:tc>
                <a:tc>
                  <a:txBody>
                    <a:bodyPr/>
                    <a:lstStyle/>
                    <a:p>
                      <a:pPr algn="l"/>
                      <a:r>
                        <a:rPr sz="1500" b="1">
                          <a:solidFill>
                            <a:srgbClr val="1F2933"/>
                          </a:solidFill>
                          <a:latin typeface="Arial"/>
                        </a:rPr>
                        <a:t>Method</a:t>
                      </a:r>
                    </a:p>
                  </a:txBody>
                  <a:tcPr marL="73152" marR="73152" anchor="ctr">
                    <a:solidFill>
                      <a:srgbClr val="F2F4F6"/>
                    </a:solidFill>
                  </a:tcPr>
                </a:tc>
                <a:tc>
                  <a:txBody>
                    <a:bodyPr/>
                    <a:lstStyle/>
                    <a:p>
                      <a:pPr algn="ctr"/>
                      <a:r>
                        <a:rPr sz="1500" b="1">
                          <a:solidFill>
                            <a:srgbClr val="1F2933"/>
                          </a:solidFill>
                          <a:latin typeface="Arial"/>
                        </a:rPr>
                        <a:t>Error % (95% CI)</a:t>
                      </a:r>
                    </a:p>
                  </a:txBody>
                  <a:tcPr marL="73152" marR="73152" anchor="ctr">
                    <a:solidFill>
                      <a:srgbClr val="F2F4F6"/>
                    </a:solidFill>
                  </a:tcPr>
                </a:tc>
                <a:tc>
                  <a:txBody>
                    <a:bodyPr/>
                    <a:lstStyle/>
                    <a:p>
                      <a:pPr algn="ctr"/>
                      <a:r>
                        <a:rPr sz="1500" b="1">
                          <a:solidFill>
                            <a:srgbClr val="1F2933"/>
                          </a:solidFill>
                          <a:latin typeface="Arial"/>
                        </a:rPr>
                        <a:t>Train (ms)</a:t>
                      </a:r>
                    </a:p>
                  </a:txBody>
                  <a:tcPr marL="73152" marR="73152" anchor="ctr">
                    <a:solidFill>
                      <a:srgbClr val="F2F4F6"/>
                    </a:solidFill>
                  </a:tcPr>
                </a:tc>
                <a:tc>
                  <a:txBody>
                    <a:bodyPr/>
                    <a:lstStyle/>
                    <a:p>
                      <a:pPr algn="ctr"/>
                      <a:r>
                        <a:rPr sz="1500" b="1">
                          <a:solidFill>
                            <a:srgbClr val="1F2933"/>
                          </a:solidFill>
                          <a:latin typeface="Arial"/>
                        </a:rPr>
                        <a:t>Predict (µs / tumor)</a:t>
                      </a:r>
                    </a:p>
                  </a:txBody>
                  <a:tcPr marL="73152" marR="73152" anchor="ctr">
                    <a:solidFill>
                      <a:srgbClr val="F2F4F6"/>
                    </a:solidFill>
                  </a:tcPr>
                </a:tc>
                <a:tc>
                  <a:txBody>
                    <a:bodyPr/>
                    <a:lstStyle/>
                    <a:p>
                      <a:pPr algn="ctr"/>
                      <a:r>
                        <a:rPr sz="1500" b="1">
                          <a:solidFill>
                            <a:srgbClr val="1F2933"/>
                          </a:solidFill>
                          <a:latin typeface="Arial"/>
                        </a:rPr>
                        <a:t>Kernel evals / prediction</a:t>
                      </a:r>
                    </a:p>
                  </a:txBody>
                  <a:tcPr marL="73152" marR="73152" anchor="ctr">
                    <a:solidFill>
                      <a:srgbClr val="F2F4F6"/>
                    </a:solidFill>
                  </a:tcPr>
                </a:tc>
                <a:extLst>
                  <a:ext uri="{0D108BD9-81ED-4DB2-BD59-A6C34878D82A}">
                    <a16:rowId xmlns:a16="http://schemas.microsoft.com/office/drawing/2014/main" val="10000"/>
                  </a:ext>
                </a:extLst>
              </a:tr>
              <a:tr h="365760">
                <a:tc>
                  <a:txBody>
                    <a:bodyPr/>
                    <a:lstStyle/>
                    <a:p>
                      <a:pPr algn="l"/>
                      <a:r>
                        <a:rPr sz="1500" b="1">
                          <a:solidFill>
                            <a:srgbClr val="1F2933"/>
                          </a:solidFill>
                          <a:latin typeface="Arial"/>
                        </a:rPr>
                        <a:t>T = 1</a:t>
                      </a:r>
                    </a:p>
                  </a:txBody>
                  <a:tcPr marL="73152" marR="73152" anchor="ctr">
                    <a:solidFill>
                      <a:srgbClr val="FFFFFF"/>
                    </a:solidFill>
                  </a:tcPr>
                </a:tc>
                <a:tc>
                  <a:txBody>
                    <a:bodyPr/>
                    <a:lstStyle/>
                    <a:p>
                      <a:pPr algn="l"/>
                      <a:r>
                        <a:rPr sz="1500" b="1">
                          <a:solidFill>
                            <a:srgbClr val="1F5FA8"/>
                          </a:solidFill>
                          <a:latin typeface="Arial"/>
                        </a:rPr>
                        <a:t>Vote</a:t>
                      </a:r>
                    </a:p>
                  </a:txBody>
                  <a:tcPr marL="73152" marR="73152" anchor="ctr">
                    <a:solidFill>
                      <a:srgbClr val="D6E4F5"/>
                    </a:solidFill>
                  </a:tcPr>
                </a:tc>
                <a:tc>
                  <a:txBody>
                    <a:bodyPr/>
                    <a:lstStyle/>
                    <a:p>
                      <a:pPr algn="ctr"/>
                      <a:r>
                        <a:rPr sz="1500" b="1">
                          <a:solidFill>
                            <a:srgbClr val="1F2933"/>
                          </a:solidFill>
                          <a:latin typeface="Arial"/>
                        </a:rPr>
                        <a:t>3.95 ± 0.41</a:t>
                      </a:r>
                    </a:p>
                  </a:txBody>
                  <a:tcPr marL="73152" marR="73152" anchor="ctr">
                    <a:solidFill>
                      <a:srgbClr val="D6E4F5"/>
                    </a:solidFill>
                  </a:tcPr>
                </a:tc>
                <a:tc>
                  <a:txBody>
                    <a:bodyPr/>
                    <a:lstStyle/>
                    <a:p>
                      <a:pPr algn="ctr"/>
                      <a:r>
                        <a:rPr sz="1500" b="1">
                          <a:solidFill>
                            <a:srgbClr val="1F2933"/>
                          </a:solidFill>
                          <a:latin typeface="Arial"/>
                        </a:rPr>
                        <a:t>1.26</a:t>
                      </a:r>
                    </a:p>
                  </a:txBody>
                  <a:tcPr marL="73152" marR="73152" anchor="ctr">
                    <a:solidFill>
                      <a:srgbClr val="D6E4F5"/>
                    </a:solidFill>
                  </a:tcPr>
                </a:tc>
                <a:tc>
                  <a:txBody>
                    <a:bodyPr/>
                    <a:lstStyle/>
                    <a:p>
                      <a:pPr algn="ctr"/>
                      <a:r>
                        <a:rPr sz="1500" b="1">
                          <a:solidFill>
                            <a:srgbClr val="1F2933"/>
                          </a:solidFill>
                          <a:latin typeface="Arial"/>
                        </a:rPr>
                        <a:t>0.3</a:t>
                      </a:r>
                    </a:p>
                  </a:txBody>
                  <a:tcPr marL="73152" marR="73152" anchor="ctr">
                    <a:solidFill>
                      <a:srgbClr val="D6E4F5"/>
                    </a:solidFill>
                  </a:tcPr>
                </a:tc>
                <a:tc>
                  <a:txBody>
                    <a:bodyPr/>
                    <a:lstStyle/>
                    <a:p>
                      <a:pPr algn="ctr"/>
                      <a:r>
                        <a:rPr sz="1500" b="1">
                          <a:solidFill>
                            <a:srgbClr val="1F2933"/>
                          </a:solidFill>
                          <a:latin typeface="Arial"/>
                        </a:rPr>
                        <a:t>27</a:t>
                      </a:r>
                    </a:p>
                  </a:txBody>
                  <a:tcPr marL="73152" marR="73152" anchor="ctr">
                    <a:solidFill>
                      <a:srgbClr val="D6E4F5"/>
                    </a:solidFill>
                  </a:tcPr>
                </a:tc>
                <a:extLst>
                  <a:ext uri="{0D108BD9-81ED-4DB2-BD59-A6C34878D82A}">
                    <a16:rowId xmlns:a16="http://schemas.microsoft.com/office/drawing/2014/main" val="10001"/>
                  </a:ext>
                </a:extLst>
              </a:tr>
              <a:tr h="365760">
                <a:tc>
                  <a:txBody>
                    <a:bodyPr/>
                    <a:lstStyle/>
                    <a:p>
                      <a:pPr algn="l"/>
                      <a:endParaRPr/>
                    </a:p>
                  </a:txBody>
                  <a:tcPr marL="73152" marR="73152" anchor="ctr">
                    <a:solidFill>
                      <a:srgbClr val="FFFFFF"/>
                    </a:solidFill>
                  </a:tcPr>
                </a:tc>
                <a:tc>
                  <a:txBody>
                    <a:bodyPr/>
                    <a:lstStyle/>
                    <a:p>
                      <a:pPr algn="l"/>
                      <a:r>
                        <a:rPr sz="1500" b="0">
                          <a:solidFill>
                            <a:srgbClr val="1F2933"/>
                          </a:solidFill>
                          <a:latin typeface="Arial"/>
                        </a:rPr>
                        <a:t>Avg</a:t>
                      </a:r>
                    </a:p>
                  </a:txBody>
                  <a:tcPr marL="73152" marR="73152" anchor="ctr">
                    <a:solidFill>
                      <a:srgbClr val="FFFFFF"/>
                    </a:solidFill>
                  </a:tcPr>
                </a:tc>
                <a:tc>
                  <a:txBody>
                    <a:bodyPr/>
                    <a:lstStyle/>
                    <a:p>
                      <a:pPr algn="ctr"/>
                      <a:r>
                        <a:rPr sz="1500" b="0">
                          <a:solidFill>
                            <a:srgbClr val="1F2933"/>
                          </a:solidFill>
                          <a:latin typeface="Arial"/>
                        </a:rPr>
                        <a:t>3.77 ± 0.43</a:t>
                      </a:r>
                    </a:p>
                  </a:txBody>
                  <a:tcPr marL="73152" marR="73152" anchor="ctr">
                    <a:solidFill>
                      <a:srgbClr val="FFFFFF"/>
                    </a:solidFill>
                  </a:tcPr>
                </a:tc>
                <a:tc>
                  <a:txBody>
                    <a:bodyPr/>
                    <a:lstStyle/>
                    <a:p>
                      <a:pPr algn="ctr"/>
                      <a:r>
                        <a:rPr sz="1500" b="0">
                          <a:solidFill>
                            <a:srgbClr val="1F2933"/>
                          </a:solidFill>
                          <a:latin typeface="Arial"/>
                        </a:rPr>
                        <a:t>1.26</a:t>
                      </a:r>
                    </a:p>
                  </a:txBody>
                  <a:tcPr marL="73152" marR="73152" anchor="ctr">
                    <a:solidFill>
                      <a:srgbClr val="FFFFFF"/>
                    </a:solidFill>
                  </a:tcPr>
                </a:tc>
                <a:tc>
                  <a:txBody>
                    <a:bodyPr/>
                    <a:lstStyle/>
                    <a:p>
                      <a:pPr algn="ctr"/>
                      <a:r>
                        <a:rPr sz="1500" b="0">
                          <a:solidFill>
                            <a:srgbClr val="1F2933"/>
                          </a:solidFill>
                          <a:latin typeface="Arial"/>
                        </a:rPr>
                        <a:t>0.3</a:t>
                      </a:r>
                    </a:p>
                  </a:txBody>
                  <a:tcPr marL="73152" marR="73152" anchor="ctr">
                    <a:solidFill>
                      <a:srgbClr val="FFFFFF"/>
                    </a:solidFill>
                  </a:tcPr>
                </a:tc>
                <a:tc>
                  <a:txBody>
                    <a:bodyPr/>
                    <a:lstStyle/>
                    <a:p>
                      <a:pPr algn="ctr"/>
                      <a:r>
                        <a:rPr sz="1500" b="0">
                          <a:solidFill>
                            <a:srgbClr val="1F2933"/>
                          </a:solidFill>
                          <a:latin typeface="Arial"/>
                        </a:rPr>
                        <a:t>27</a:t>
                      </a:r>
                    </a:p>
                  </a:txBody>
                  <a:tcPr marL="73152" marR="73152" anchor="ctr">
                    <a:solidFill>
                      <a:srgbClr val="FFFFFF"/>
                    </a:solidFill>
                  </a:tcPr>
                </a:tc>
                <a:extLst>
                  <a:ext uri="{0D108BD9-81ED-4DB2-BD59-A6C34878D82A}">
                    <a16:rowId xmlns:a16="http://schemas.microsoft.com/office/drawing/2014/main" val="10002"/>
                  </a:ext>
                </a:extLst>
              </a:tr>
              <a:tr h="365760">
                <a:tc>
                  <a:txBody>
                    <a:bodyPr/>
                    <a:lstStyle/>
                    <a:p>
                      <a:pPr algn="l"/>
                      <a:endParaRPr/>
                    </a:p>
                  </a:txBody>
                  <a:tcPr marL="73152" marR="73152" anchor="ctr">
                    <a:solidFill>
                      <a:srgbClr val="FFFFFF"/>
                    </a:solidFill>
                  </a:tcPr>
                </a:tc>
                <a:tc>
                  <a:txBody>
                    <a:bodyPr/>
                    <a:lstStyle/>
                    <a:p>
                      <a:pPr algn="l"/>
                      <a:r>
                        <a:rPr sz="1500" b="1">
                          <a:solidFill>
                            <a:srgbClr val="B85014"/>
                          </a:solidFill>
                          <a:latin typeface="Arial"/>
                        </a:rPr>
                        <a:t>Last</a:t>
                      </a:r>
                    </a:p>
                  </a:txBody>
                  <a:tcPr marL="73152" marR="73152" anchor="ctr">
                    <a:solidFill>
                      <a:srgbClr val="FBE1D0"/>
                    </a:solidFill>
                  </a:tcPr>
                </a:tc>
                <a:tc>
                  <a:txBody>
                    <a:bodyPr/>
                    <a:lstStyle/>
                    <a:p>
                      <a:pPr algn="ctr"/>
                      <a:r>
                        <a:rPr sz="1500" b="1">
                          <a:solidFill>
                            <a:srgbClr val="1F2933"/>
                          </a:solidFill>
                          <a:latin typeface="Arial"/>
                        </a:rPr>
                        <a:t>4.84 ± 0.66</a:t>
                      </a:r>
                    </a:p>
                  </a:txBody>
                  <a:tcPr marL="73152" marR="73152" anchor="ctr">
                    <a:solidFill>
                      <a:srgbClr val="FBE1D0"/>
                    </a:solidFill>
                  </a:tcPr>
                </a:tc>
                <a:tc>
                  <a:txBody>
                    <a:bodyPr/>
                    <a:lstStyle/>
                    <a:p>
                      <a:pPr algn="ctr"/>
                      <a:r>
                        <a:rPr sz="1500" b="1">
                          <a:solidFill>
                            <a:srgbClr val="1F2933"/>
                          </a:solidFill>
                          <a:latin typeface="Arial"/>
                        </a:rPr>
                        <a:t>1.26</a:t>
                      </a:r>
                    </a:p>
                  </a:txBody>
                  <a:tcPr marL="73152" marR="73152" anchor="ctr">
                    <a:solidFill>
                      <a:srgbClr val="FBE1D0"/>
                    </a:solidFill>
                  </a:tcPr>
                </a:tc>
                <a:tc>
                  <a:txBody>
                    <a:bodyPr/>
                    <a:lstStyle/>
                    <a:p>
                      <a:pPr algn="ctr"/>
                      <a:r>
                        <a:rPr sz="1500" b="1">
                          <a:solidFill>
                            <a:srgbClr val="1F2933"/>
                          </a:solidFill>
                          <a:latin typeface="Arial"/>
                        </a:rPr>
                        <a:t>0.3</a:t>
                      </a:r>
                    </a:p>
                  </a:txBody>
                  <a:tcPr marL="73152" marR="73152" anchor="ctr">
                    <a:solidFill>
                      <a:srgbClr val="FBE1D0"/>
                    </a:solidFill>
                  </a:tcPr>
                </a:tc>
                <a:tc>
                  <a:txBody>
                    <a:bodyPr/>
                    <a:lstStyle/>
                    <a:p>
                      <a:pPr algn="ctr"/>
                      <a:r>
                        <a:rPr sz="1500" b="1">
                          <a:solidFill>
                            <a:srgbClr val="1F2933"/>
                          </a:solidFill>
                          <a:latin typeface="Arial"/>
                        </a:rPr>
                        <a:t>27</a:t>
                      </a:r>
                    </a:p>
                  </a:txBody>
                  <a:tcPr marL="73152" marR="73152" anchor="ctr">
                    <a:solidFill>
                      <a:srgbClr val="FBE1D0"/>
                    </a:solidFill>
                  </a:tcPr>
                </a:tc>
                <a:extLst>
                  <a:ext uri="{0D108BD9-81ED-4DB2-BD59-A6C34878D82A}">
                    <a16:rowId xmlns:a16="http://schemas.microsoft.com/office/drawing/2014/main" val="10003"/>
                  </a:ext>
                </a:extLst>
              </a:tr>
              <a:tr h="365760">
                <a:tc>
                  <a:txBody>
                    <a:bodyPr/>
                    <a:lstStyle/>
                    <a:p>
                      <a:pPr algn="l"/>
                      <a:endParaRPr/>
                    </a:p>
                  </a:txBody>
                  <a:tcPr marL="73152" marR="73152" anchor="ctr">
                    <a:solidFill>
                      <a:srgbClr val="FFFFFF"/>
                    </a:solidFill>
                  </a:tcPr>
                </a:tc>
                <a:tc>
                  <a:txBody>
                    <a:bodyPr/>
                    <a:lstStyle/>
                    <a:p>
                      <a:pPr algn="l"/>
                      <a:r>
                        <a:rPr sz="1500" b="0">
                          <a:solidFill>
                            <a:srgbClr val="1F2933"/>
                          </a:solidFill>
                          <a:latin typeface="Arial"/>
                        </a:rPr>
                        <a:t>Rand</a:t>
                      </a:r>
                    </a:p>
                  </a:txBody>
                  <a:tcPr marL="73152" marR="73152" anchor="ctr">
                    <a:solidFill>
                      <a:srgbClr val="FFFFFF"/>
                    </a:solidFill>
                  </a:tcPr>
                </a:tc>
                <a:tc>
                  <a:txBody>
                    <a:bodyPr/>
                    <a:lstStyle/>
                    <a:p>
                      <a:pPr algn="ctr"/>
                      <a:r>
                        <a:rPr sz="1500" b="0">
                          <a:solidFill>
                            <a:srgbClr val="1F2933"/>
                          </a:solidFill>
                          <a:latin typeface="Arial"/>
                        </a:rPr>
                        <a:t>6.25 ± 0.59</a:t>
                      </a:r>
                    </a:p>
                  </a:txBody>
                  <a:tcPr marL="73152" marR="73152" anchor="ctr">
                    <a:solidFill>
                      <a:srgbClr val="FFFFFF"/>
                    </a:solidFill>
                  </a:tcPr>
                </a:tc>
                <a:tc>
                  <a:txBody>
                    <a:bodyPr/>
                    <a:lstStyle/>
                    <a:p>
                      <a:pPr algn="ctr"/>
                      <a:r>
                        <a:rPr sz="1500" b="0">
                          <a:solidFill>
                            <a:srgbClr val="1F2933"/>
                          </a:solidFill>
                          <a:latin typeface="Arial"/>
                        </a:rPr>
                        <a:t>1.26</a:t>
                      </a:r>
                    </a:p>
                  </a:txBody>
                  <a:tcPr marL="73152" marR="73152" anchor="ctr">
                    <a:solidFill>
                      <a:srgbClr val="FFFFFF"/>
                    </a:solidFill>
                  </a:tcPr>
                </a:tc>
                <a:tc>
                  <a:txBody>
                    <a:bodyPr/>
                    <a:lstStyle/>
                    <a:p>
                      <a:pPr algn="ctr"/>
                      <a:r>
                        <a:rPr sz="1500" b="0">
                          <a:solidFill>
                            <a:srgbClr val="1F2933"/>
                          </a:solidFill>
                          <a:latin typeface="Arial"/>
                        </a:rPr>
                        <a:t>0.4</a:t>
                      </a:r>
                    </a:p>
                  </a:txBody>
                  <a:tcPr marL="73152" marR="73152" anchor="ctr">
                    <a:solidFill>
                      <a:srgbClr val="FFFFFF"/>
                    </a:solidFill>
                  </a:tcPr>
                </a:tc>
                <a:tc>
                  <a:txBody>
                    <a:bodyPr/>
                    <a:lstStyle/>
                    <a:p>
                      <a:pPr algn="ctr"/>
                      <a:r>
                        <a:rPr sz="1500" b="0">
                          <a:solidFill>
                            <a:srgbClr val="1F2933"/>
                          </a:solidFill>
                          <a:latin typeface="Arial"/>
                        </a:rPr>
                        <a:t>27</a:t>
                      </a:r>
                    </a:p>
                  </a:txBody>
                  <a:tcPr marL="73152" marR="73152" anchor="ctr">
                    <a:solidFill>
                      <a:srgbClr val="FFFFFF"/>
                    </a:solidFill>
                  </a:tcPr>
                </a:tc>
                <a:extLst>
                  <a:ext uri="{0D108BD9-81ED-4DB2-BD59-A6C34878D82A}">
                    <a16:rowId xmlns:a16="http://schemas.microsoft.com/office/drawing/2014/main" val="10004"/>
                  </a:ext>
                </a:extLst>
              </a:tr>
              <a:tr h="365760">
                <a:tc>
                  <a:txBody>
                    <a:bodyPr/>
                    <a:lstStyle/>
                    <a:p>
                      <a:pPr algn="l"/>
                      <a:r>
                        <a:rPr sz="1500" b="1">
                          <a:solidFill>
                            <a:srgbClr val="1F2933"/>
                          </a:solidFill>
                          <a:latin typeface="Arial"/>
                        </a:rPr>
                        <a:t>T = 3</a:t>
                      </a:r>
                    </a:p>
                  </a:txBody>
                  <a:tcPr marL="73152" marR="73152" anchor="ctr">
                    <a:solidFill>
                      <a:srgbClr val="FFFFFF"/>
                    </a:solidFill>
                  </a:tcPr>
                </a:tc>
                <a:tc>
                  <a:txBody>
                    <a:bodyPr/>
                    <a:lstStyle/>
                    <a:p>
                      <a:pPr algn="l"/>
                      <a:r>
                        <a:rPr sz="1500" b="1">
                          <a:solidFill>
                            <a:srgbClr val="1F5FA8"/>
                          </a:solidFill>
                          <a:latin typeface="Arial"/>
                        </a:rPr>
                        <a:t>Vote</a:t>
                      </a:r>
                    </a:p>
                  </a:txBody>
                  <a:tcPr marL="73152" marR="73152" anchor="ctr">
                    <a:solidFill>
                      <a:srgbClr val="D6E4F5"/>
                    </a:solidFill>
                  </a:tcPr>
                </a:tc>
                <a:tc>
                  <a:txBody>
                    <a:bodyPr/>
                    <a:lstStyle/>
                    <a:p>
                      <a:pPr algn="ctr"/>
                      <a:r>
                        <a:rPr sz="1500" b="1">
                          <a:solidFill>
                            <a:srgbClr val="1F2933"/>
                          </a:solidFill>
                          <a:latin typeface="Arial"/>
                        </a:rPr>
                        <a:t>3.72 ± 0.49</a:t>
                      </a:r>
                    </a:p>
                  </a:txBody>
                  <a:tcPr marL="73152" marR="73152" anchor="ctr">
                    <a:solidFill>
                      <a:srgbClr val="D6E4F5"/>
                    </a:solidFill>
                  </a:tcPr>
                </a:tc>
                <a:tc>
                  <a:txBody>
                    <a:bodyPr/>
                    <a:lstStyle/>
                    <a:p>
                      <a:pPr algn="ctr"/>
                      <a:r>
                        <a:rPr sz="1500" b="1">
                          <a:solidFill>
                            <a:srgbClr val="1F2933"/>
                          </a:solidFill>
                          <a:latin typeface="Arial"/>
                        </a:rPr>
                        <a:t>2.17</a:t>
                      </a:r>
                    </a:p>
                  </a:txBody>
                  <a:tcPr marL="73152" marR="73152" anchor="ctr">
                    <a:solidFill>
                      <a:srgbClr val="D6E4F5"/>
                    </a:solidFill>
                  </a:tcPr>
                </a:tc>
                <a:tc>
                  <a:txBody>
                    <a:bodyPr/>
                    <a:lstStyle/>
                    <a:p>
                      <a:pPr algn="ctr"/>
                      <a:r>
                        <a:rPr sz="1500" b="1">
                          <a:solidFill>
                            <a:srgbClr val="1F2933"/>
                          </a:solidFill>
                          <a:latin typeface="Arial"/>
                        </a:rPr>
                        <a:t>0.7</a:t>
                      </a:r>
                    </a:p>
                  </a:txBody>
                  <a:tcPr marL="73152" marR="73152" anchor="ctr">
                    <a:solidFill>
                      <a:srgbClr val="D6E4F5"/>
                    </a:solidFill>
                  </a:tcPr>
                </a:tc>
                <a:tc>
                  <a:txBody>
                    <a:bodyPr/>
                    <a:lstStyle/>
                    <a:p>
                      <a:pPr algn="ctr"/>
                      <a:r>
                        <a:rPr sz="1500" b="1">
                          <a:solidFill>
                            <a:srgbClr val="1F2933"/>
                          </a:solidFill>
                          <a:latin typeface="Arial"/>
                        </a:rPr>
                        <a:t>59</a:t>
                      </a:r>
                    </a:p>
                  </a:txBody>
                  <a:tcPr marL="73152" marR="73152" anchor="ctr">
                    <a:solidFill>
                      <a:srgbClr val="D6E4F5"/>
                    </a:solidFill>
                  </a:tcPr>
                </a:tc>
                <a:extLst>
                  <a:ext uri="{0D108BD9-81ED-4DB2-BD59-A6C34878D82A}">
                    <a16:rowId xmlns:a16="http://schemas.microsoft.com/office/drawing/2014/main" val="10005"/>
                  </a:ext>
                </a:extLst>
              </a:tr>
              <a:tr h="365760">
                <a:tc>
                  <a:txBody>
                    <a:bodyPr/>
                    <a:lstStyle/>
                    <a:p>
                      <a:pPr algn="l"/>
                      <a:endParaRPr/>
                    </a:p>
                  </a:txBody>
                  <a:tcPr marL="73152" marR="73152" anchor="ctr">
                    <a:solidFill>
                      <a:srgbClr val="FFFFFF"/>
                    </a:solidFill>
                  </a:tcPr>
                </a:tc>
                <a:tc>
                  <a:txBody>
                    <a:bodyPr/>
                    <a:lstStyle/>
                    <a:p>
                      <a:pPr algn="l"/>
                      <a:r>
                        <a:rPr sz="1500" b="0">
                          <a:solidFill>
                            <a:srgbClr val="1F2933"/>
                          </a:solidFill>
                          <a:latin typeface="Arial"/>
                        </a:rPr>
                        <a:t>Avg</a:t>
                      </a:r>
                    </a:p>
                  </a:txBody>
                  <a:tcPr marL="73152" marR="73152" anchor="ctr">
                    <a:solidFill>
                      <a:srgbClr val="FFFFFF"/>
                    </a:solidFill>
                  </a:tcPr>
                </a:tc>
                <a:tc>
                  <a:txBody>
                    <a:bodyPr/>
                    <a:lstStyle/>
                    <a:p>
                      <a:pPr algn="ctr"/>
                      <a:r>
                        <a:rPr sz="1500" b="0">
                          <a:solidFill>
                            <a:srgbClr val="1F2933"/>
                          </a:solidFill>
                          <a:latin typeface="Arial"/>
                        </a:rPr>
                        <a:t>3.54 ± 0.44</a:t>
                      </a:r>
                    </a:p>
                  </a:txBody>
                  <a:tcPr marL="73152" marR="73152" anchor="ctr">
                    <a:solidFill>
                      <a:srgbClr val="FFFFFF"/>
                    </a:solidFill>
                  </a:tcPr>
                </a:tc>
                <a:tc>
                  <a:txBody>
                    <a:bodyPr/>
                    <a:lstStyle/>
                    <a:p>
                      <a:pPr algn="ctr"/>
                      <a:r>
                        <a:rPr sz="1500" b="0">
                          <a:solidFill>
                            <a:srgbClr val="1F2933"/>
                          </a:solidFill>
                          <a:latin typeface="Arial"/>
                        </a:rPr>
                        <a:t>2.17</a:t>
                      </a:r>
                    </a:p>
                  </a:txBody>
                  <a:tcPr marL="73152" marR="73152" anchor="ctr">
                    <a:solidFill>
                      <a:srgbClr val="FFFFFF"/>
                    </a:solidFill>
                  </a:tcPr>
                </a:tc>
                <a:tc>
                  <a:txBody>
                    <a:bodyPr/>
                    <a:lstStyle/>
                    <a:p>
                      <a:pPr algn="ctr"/>
                      <a:r>
                        <a:rPr sz="1500" b="0">
                          <a:solidFill>
                            <a:srgbClr val="1F2933"/>
                          </a:solidFill>
                          <a:latin typeface="Arial"/>
                        </a:rPr>
                        <a:t>0.6</a:t>
                      </a:r>
                    </a:p>
                  </a:txBody>
                  <a:tcPr marL="73152" marR="73152" anchor="ctr">
                    <a:solidFill>
                      <a:srgbClr val="FFFFFF"/>
                    </a:solidFill>
                  </a:tcPr>
                </a:tc>
                <a:tc>
                  <a:txBody>
                    <a:bodyPr/>
                    <a:lstStyle/>
                    <a:p>
                      <a:pPr algn="ctr"/>
                      <a:r>
                        <a:rPr sz="1500" b="0">
                          <a:solidFill>
                            <a:srgbClr val="1F2933"/>
                          </a:solidFill>
                          <a:latin typeface="Arial"/>
                        </a:rPr>
                        <a:t>59</a:t>
                      </a:r>
                    </a:p>
                  </a:txBody>
                  <a:tcPr marL="73152" marR="73152" anchor="ctr">
                    <a:solidFill>
                      <a:srgbClr val="FFFFFF"/>
                    </a:solidFill>
                  </a:tcPr>
                </a:tc>
                <a:extLst>
                  <a:ext uri="{0D108BD9-81ED-4DB2-BD59-A6C34878D82A}">
                    <a16:rowId xmlns:a16="http://schemas.microsoft.com/office/drawing/2014/main" val="10006"/>
                  </a:ext>
                </a:extLst>
              </a:tr>
              <a:tr h="365760">
                <a:tc>
                  <a:txBody>
                    <a:bodyPr/>
                    <a:lstStyle/>
                    <a:p>
                      <a:pPr algn="l"/>
                      <a:endParaRPr/>
                    </a:p>
                  </a:txBody>
                  <a:tcPr marL="73152" marR="73152" anchor="ctr">
                    <a:solidFill>
                      <a:srgbClr val="FFFFFF"/>
                    </a:solidFill>
                  </a:tcPr>
                </a:tc>
                <a:tc>
                  <a:txBody>
                    <a:bodyPr/>
                    <a:lstStyle/>
                    <a:p>
                      <a:pPr algn="l"/>
                      <a:r>
                        <a:rPr sz="1500" b="1">
                          <a:solidFill>
                            <a:srgbClr val="B85014"/>
                          </a:solidFill>
                          <a:latin typeface="Arial"/>
                        </a:rPr>
                        <a:t>Last</a:t>
                      </a:r>
                    </a:p>
                  </a:txBody>
                  <a:tcPr marL="73152" marR="73152" anchor="ctr">
                    <a:solidFill>
                      <a:srgbClr val="FBE1D0"/>
                    </a:solidFill>
                  </a:tcPr>
                </a:tc>
                <a:tc>
                  <a:txBody>
                    <a:bodyPr/>
                    <a:lstStyle/>
                    <a:p>
                      <a:pPr algn="ctr"/>
                      <a:r>
                        <a:rPr sz="1500" b="1">
                          <a:solidFill>
                            <a:srgbClr val="1F2933"/>
                          </a:solidFill>
                          <a:latin typeface="Arial"/>
                        </a:rPr>
                        <a:t>4.33 ± 0.55</a:t>
                      </a:r>
                    </a:p>
                  </a:txBody>
                  <a:tcPr marL="73152" marR="73152" anchor="ctr">
                    <a:solidFill>
                      <a:srgbClr val="FBE1D0"/>
                    </a:solidFill>
                  </a:tcPr>
                </a:tc>
                <a:tc>
                  <a:txBody>
                    <a:bodyPr/>
                    <a:lstStyle/>
                    <a:p>
                      <a:pPr algn="ctr"/>
                      <a:r>
                        <a:rPr sz="1500" b="1">
                          <a:solidFill>
                            <a:srgbClr val="1F2933"/>
                          </a:solidFill>
                          <a:latin typeface="Arial"/>
                        </a:rPr>
                        <a:t>2.17</a:t>
                      </a:r>
                    </a:p>
                  </a:txBody>
                  <a:tcPr marL="73152" marR="73152" anchor="ctr">
                    <a:solidFill>
                      <a:srgbClr val="FBE1D0"/>
                    </a:solidFill>
                  </a:tcPr>
                </a:tc>
                <a:tc>
                  <a:txBody>
                    <a:bodyPr/>
                    <a:lstStyle/>
                    <a:p>
                      <a:pPr algn="ctr"/>
                      <a:r>
                        <a:rPr sz="1500" b="1">
                          <a:solidFill>
                            <a:srgbClr val="1F2933"/>
                          </a:solidFill>
                          <a:latin typeface="Arial"/>
                        </a:rPr>
                        <a:t>0.7</a:t>
                      </a:r>
                    </a:p>
                  </a:txBody>
                  <a:tcPr marL="73152" marR="73152" anchor="ctr">
                    <a:solidFill>
                      <a:srgbClr val="FBE1D0"/>
                    </a:solidFill>
                  </a:tcPr>
                </a:tc>
                <a:tc>
                  <a:txBody>
                    <a:bodyPr/>
                    <a:lstStyle/>
                    <a:p>
                      <a:pPr algn="ctr"/>
                      <a:r>
                        <a:rPr sz="1500" b="1">
                          <a:solidFill>
                            <a:srgbClr val="1F2933"/>
                          </a:solidFill>
                          <a:latin typeface="Arial"/>
                        </a:rPr>
                        <a:t>59</a:t>
                      </a:r>
                    </a:p>
                  </a:txBody>
                  <a:tcPr marL="73152" marR="73152" anchor="ctr">
                    <a:solidFill>
                      <a:srgbClr val="FBE1D0"/>
                    </a:solidFill>
                  </a:tcPr>
                </a:tc>
                <a:extLst>
                  <a:ext uri="{0D108BD9-81ED-4DB2-BD59-A6C34878D82A}">
                    <a16:rowId xmlns:a16="http://schemas.microsoft.com/office/drawing/2014/main" val="10007"/>
                  </a:ext>
                </a:extLst>
              </a:tr>
              <a:tr h="365760">
                <a:tc>
                  <a:txBody>
                    <a:bodyPr/>
                    <a:lstStyle/>
                    <a:p>
                      <a:pPr algn="l"/>
                      <a:endParaRPr/>
                    </a:p>
                  </a:txBody>
                  <a:tcPr marL="73152" marR="73152" anchor="ctr">
                    <a:solidFill>
                      <a:srgbClr val="FFFFFF"/>
                    </a:solidFill>
                  </a:tcPr>
                </a:tc>
                <a:tc>
                  <a:txBody>
                    <a:bodyPr/>
                    <a:lstStyle/>
                    <a:p>
                      <a:pPr algn="l"/>
                      <a:r>
                        <a:rPr sz="1500" b="0">
                          <a:solidFill>
                            <a:srgbClr val="1F2933"/>
                          </a:solidFill>
                          <a:latin typeface="Arial"/>
                        </a:rPr>
                        <a:t>Rand</a:t>
                      </a:r>
                    </a:p>
                  </a:txBody>
                  <a:tcPr marL="73152" marR="73152" anchor="ctr">
                    <a:solidFill>
                      <a:srgbClr val="FFFFFF"/>
                    </a:solidFill>
                  </a:tcPr>
                </a:tc>
                <a:tc>
                  <a:txBody>
                    <a:bodyPr/>
                    <a:lstStyle/>
                    <a:p>
                      <a:pPr algn="ctr"/>
                      <a:r>
                        <a:rPr sz="1500" b="0">
                          <a:solidFill>
                            <a:srgbClr val="1F2933"/>
                          </a:solidFill>
                          <a:latin typeface="Arial"/>
                        </a:rPr>
                        <a:t>5.12 ± 0.44</a:t>
                      </a:r>
                    </a:p>
                  </a:txBody>
                  <a:tcPr marL="73152" marR="73152" anchor="ctr">
                    <a:solidFill>
                      <a:srgbClr val="FFFFFF"/>
                    </a:solidFill>
                  </a:tcPr>
                </a:tc>
                <a:tc>
                  <a:txBody>
                    <a:bodyPr/>
                    <a:lstStyle/>
                    <a:p>
                      <a:pPr algn="ctr"/>
                      <a:r>
                        <a:rPr sz="1500" b="0">
                          <a:solidFill>
                            <a:srgbClr val="1F2933"/>
                          </a:solidFill>
                          <a:latin typeface="Arial"/>
                        </a:rPr>
                        <a:t>2.17</a:t>
                      </a:r>
                    </a:p>
                  </a:txBody>
                  <a:tcPr marL="73152" marR="73152" anchor="ctr">
                    <a:solidFill>
                      <a:srgbClr val="FFFFFF"/>
                    </a:solidFill>
                  </a:tcPr>
                </a:tc>
                <a:tc>
                  <a:txBody>
                    <a:bodyPr/>
                    <a:lstStyle/>
                    <a:p>
                      <a:pPr algn="ctr"/>
                      <a:r>
                        <a:rPr sz="1500" b="0">
                          <a:solidFill>
                            <a:srgbClr val="1F2933"/>
                          </a:solidFill>
                          <a:latin typeface="Arial"/>
                        </a:rPr>
                        <a:t>0.7</a:t>
                      </a:r>
                    </a:p>
                  </a:txBody>
                  <a:tcPr marL="73152" marR="73152" anchor="ctr">
                    <a:solidFill>
                      <a:srgbClr val="FFFFFF"/>
                    </a:solidFill>
                  </a:tcPr>
                </a:tc>
                <a:tc>
                  <a:txBody>
                    <a:bodyPr/>
                    <a:lstStyle/>
                    <a:p>
                      <a:pPr algn="ctr"/>
                      <a:r>
                        <a:rPr sz="1500" b="0">
                          <a:solidFill>
                            <a:srgbClr val="1F2933"/>
                          </a:solidFill>
                          <a:latin typeface="Arial"/>
                        </a:rPr>
                        <a:t>59</a:t>
                      </a:r>
                    </a:p>
                  </a:txBody>
                  <a:tcPr marL="73152" marR="73152" anchor="ctr">
                    <a:solidFill>
                      <a:srgbClr val="FFFFFF"/>
                    </a:solidFill>
                  </a:tcPr>
                </a:tc>
                <a:extLst>
                  <a:ext uri="{0D108BD9-81ED-4DB2-BD59-A6C34878D82A}">
                    <a16:rowId xmlns:a16="http://schemas.microsoft.com/office/drawing/2014/main" val="10008"/>
                  </a:ext>
                </a:extLst>
              </a:tr>
              <a:tr h="365760">
                <a:tc>
                  <a:txBody>
                    <a:bodyPr/>
                    <a:lstStyle/>
                    <a:p>
                      <a:pPr algn="l"/>
                      <a:r>
                        <a:rPr sz="1500" b="1">
                          <a:solidFill>
                            <a:srgbClr val="1F2933"/>
                          </a:solidFill>
                          <a:latin typeface="Arial"/>
                        </a:rPr>
                        <a:t>SVM</a:t>
                      </a:r>
                    </a:p>
                  </a:txBody>
                  <a:tcPr marL="73152" marR="73152" anchor="ctr">
                    <a:solidFill>
                      <a:srgbClr val="FFFFFF"/>
                    </a:solidFill>
                  </a:tcPr>
                </a:tc>
                <a:tc>
                  <a:txBody>
                    <a:bodyPr/>
                    <a:lstStyle/>
                    <a:p>
                      <a:pPr algn="l"/>
                      <a:r>
                        <a:rPr sz="1500" b="0">
                          <a:solidFill>
                            <a:srgbClr val="1F2933"/>
                          </a:solidFill>
                          <a:latin typeface="Arial"/>
                        </a:rPr>
                        <a:t>SVC (ref.)</a:t>
                      </a:r>
                    </a:p>
                  </a:txBody>
                  <a:tcPr marL="73152" marR="73152" anchor="ctr">
                    <a:solidFill>
                      <a:srgbClr val="FFFFFF"/>
                    </a:solidFill>
                  </a:tcPr>
                </a:tc>
                <a:tc>
                  <a:txBody>
                    <a:bodyPr/>
                    <a:lstStyle/>
                    <a:p>
                      <a:pPr algn="ctr"/>
                      <a:r>
                        <a:rPr sz="1500" b="0">
                          <a:solidFill>
                            <a:srgbClr val="1F2933"/>
                          </a:solidFill>
                          <a:latin typeface="Arial"/>
                        </a:rPr>
                        <a:t>3.95 ± 1.03</a:t>
                      </a:r>
                    </a:p>
                  </a:txBody>
                  <a:tcPr marL="73152" marR="73152" anchor="ctr">
                    <a:solidFill>
                      <a:srgbClr val="FFFFFF"/>
                    </a:solidFill>
                  </a:tcPr>
                </a:tc>
                <a:tc>
                  <a:txBody>
                    <a:bodyPr/>
                    <a:lstStyle/>
                    <a:p>
                      <a:pPr algn="ctr"/>
                      <a:r>
                        <a:rPr sz="1500" b="0">
                          <a:solidFill>
                            <a:srgbClr val="1F2933"/>
                          </a:solidFill>
                          <a:latin typeface="Arial"/>
                        </a:rPr>
                        <a:t>2.38</a:t>
                      </a:r>
                    </a:p>
                  </a:txBody>
                  <a:tcPr marL="73152" marR="73152" anchor="ctr">
                    <a:solidFill>
                      <a:srgbClr val="FFFFFF"/>
                    </a:solidFill>
                  </a:tcPr>
                </a:tc>
                <a:tc>
                  <a:txBody>
                    <a:bodyPr/>
                    <a:lstStyle/>
                    <a:p>
                      <a:pPr algn="ctr"/>
                      <a:r>
                        <a:rPr sz="1500" b="0">
                          <a:solidFill>
                            <a:srgbClr val="1F2933"/>
                          </a:solidFill>
                          <a:latin typeface="Arial"/>
                        </a:rPr>
                        <a:t>1.3</a:t>
                      </a:r>
                    </a:p>
                  </a:txBody>
                  <a:tcPr marL="73152" marR="73152" anchor="ctr">
                    <a:solidFill>
                      <a:srgbClr val="FFFFFF"/>
                    </a:solidFill>
                  </a:tcPr>
                </a:tc>
                <a:tc>
                  <a:txBody>
                    <a:bodyPr/>
                    <a:lstStyle/>
                    <a:p>
                      <a:pPr algn="ctr"/>
                      <a:r>
                        <a:rPr sz="1500" b="0">
                          <a:solidFill>
                            <a:srgbClr val="1F2933"/>
                          </a:solidFill>
                          <a:latin typeface="Arial"/>
                        </a:rPr>
                        <a:t>34</a:t>
                      </a:r>
                    </a:p>
                  </a:txBody>
                  <a:tcPr marL="73152" marR="73152" anchor="ctr">
                    <a:solidFill>
                      <a:srgbClr val="FFFFFF"/>
                    </a:solidFill>
                  </a:tcPr>
                </a:tc>
                <a:extLst>
                  <a:ext uri="{0D108BD9-81ED-4DB2-BD59-A6C34878D82A}">
                    <a16:rowId xmlns:a16="http://schemas.microsoft.com/office/drawing/2014/main" val="10009"/>
                  </a:ext>
                </a:extLst>
              </a:tr>
            </a:tbl>
          </a:graphicData>
        </a:graphic>
      </p:graphicFrame>
      <p:sp>
        <p:nvSpPr>
          <p:cNvPr id="5" name="Rectangle 4"/>
          <p:cNvSpPr/>
          <p:nvPr/>
        </p:nvSpPr>
        <p:spPr>
          <a:xfrm>
            <a:off x="548640" y="5440680"/>
            <a:ext cx="11064240" cy="685800"/>
          </a:xfrm>
          <a:prstGeom prst="rect">
            <a:avLst/>
          </a:prstGeom>
          <a:solidFill>
            <a:srgbClr val="EAF0F8"/>
          </a:solidFill>
          <a:ln>
            <a:noFill/>
          </a:ln>
          <a:effectLst/>
        </p:spPr>
        <p:txBody>
          <a:bodyPr rtlCol="0" anchor="ctr"/>
          <a:lstStyle/>
          <a:p>
            <a:pPr algn="ctr"/>
            <a:endParaRPr/>
          </a:p>
        </p:txBody>
      </p:sp>
      <p:sp>
        <p:nvSpPr>
          <p:cNvPr id="6" name="TextBox 5"/>
          <p:cNvSpPr txBox="1"/>
          <p:nvPr/>
        </p:nvSpPr>
        <p:spPr>
          <a:xfrm>
            <a:off x="777240" y="5440680"/>
            <a:ext cx="10607040" cy="685800"/>
          </a:xfrm>
          <a:prstGeom prst="rect">
            <a:avLst/>
          </a:prstGeom>
          <a:noFill/>
        </p:spPr>
        <p:txBody>
          <a:bodyPr wrap="square" lIns="0" tIns="0" rIns="0" bIns="0" anchor="ctr">
            <a:spAutoFit/>
          </a:bodyPr>
          <a:lstStyle/>
          <a:p>
            <a:pPr algn="l"/>
            <a:r>
              <a:rPr sz="1700" b="1" i="0">
                <a:solidFill>
                  <a:srgbClr val="1F2933"/>
                </a:solidFill>
                <a:latin typeface="Arial"/>
              </a:rPr>
              <a:t>Vote beats Last </a:t>
            </a:r>
            <a:r>
              <a:rPr sz="1700" b="0" i="0">
                <a:solidFill>
                  <a:srgbClr val="1F2933"/>
                </a:solidFill>
                <a:latin typeface="Arial"/>
              </a:rPr>
              <a:t>(3.95% vs. 4.84% at T = 1, sign test p = 0.017) </a:t>
            </a:r>
            <a:r>
              <a:rPr sz="1700" b="1" i="0">
                <a:solidFill>
                  <a:srgbClr val="1F2933"/>
                </a:solidFill>
                <a:latin typeface="Arial"/>
              </a:rPr>
              <a:t>at no extra prediction cost.</a:t>
            </a:r>
          </a:p>
        </p:txBody>
      </p:sp>
      <p:sp>
        <p:nvSpPr>
          <p:cNvPr id="7" name="TextBox 6"/>
          <p:cNvSpPr txBox="1"/>
          <p:nvPr/>
        </p:nvSpPr>
        <p:spPr>
          <a:xfrm>
            <a:off x="548640" y="6263640"/>
            <a:ext cx="11064240" cy="320040"/>
          </a:xfrm>
          <a:prstGeom prst="rect">
            <a:avLst/>
          </a:prstGeom>
          <a:noFill/>
        </p:spPr>
        <p:txBody>
          <a:bodyPr wrap="square" lIns="0" tIns="0" rIns="0" bIns="0" anchor="t">
            <a:spAutoFit/>
          </a:bodyPr>
          <a:lstStyle/>
          <a:p>
            <a:pPr algn="l"/>
            <a:r>
              <a:rPr sz="1200" b="0" i="0">
                <a:solidFill>
                  <a:srgbClr val="52606D"/>
                </a:solidFill>
                <a:latin typeface="Arial"/>
              </a:rPr>
              <a:t>569 tumors, 30 features, 80/20 split, mean of 50 runs. Times measured on my laptop. Kernel evals are machine-independent.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2933"/>
        </a:solidFill>
        <a:effectLst/>
      </p:bgPr>
    </p:bg>
    <p:spTree>
      <p:nvGrpSpPr>
        <p:cNvPr id="1" name=""/>
        <p:cNvGrpSpPr/>
        <p:nvPr/>
      </p:nvGrpSpPr>
      <p:grpSpPr>
        <a:xfrm>
          <a:off x="0" y="0"/>
          <a:ext cx="0" cy="0"/>
          <a:chOff x="0" y="0"/>
          <a:chExt cx="0" cy="0"/>
        </a:xfrm>
      </p:grpSpPr>
      <p:sp>
        <p:nvSpPr>
          <p:cNvPr id="2" name="TextBox 1"/>
          <p:cNvSpPr txBox="1"/>
          <p:nvPr/>
        </p:nvSpPr>
        <p:spPr>
          <a:xfrm>
            <a:off x="822960" y="914400"/>
            <a:ext cx="10515600" cy="822960"/>
          </a:xfrm>
          <a:prstGeom prst="rect">
            <a:avLst/>
          </a:prstGeom>
          <a:noFill/>
        </p:spPr>
        <p:txBody>
          <a:bodyPr wrap="square" lIns="0" tIns="0" rIns="0" bIns="0" anchor="t">
            <a:spAutoFit/>
          </a:bodyPr>
          <a:lstStyle/>
          <a:p>
            <a:pPr algn="l"/>
            <a:r>
              <a:rPr sz="3600" b="1" i="0">
                <a:solidFill>
                  <a:srgbClr val="FFFFFF"/>
                </a:solidFill>
                <a:latin typeface="Arial"/>
              </a:rPr>
              <a:t>Conclusions</a:t>
            </a:r>
          </a:p>
        </p:txBody>
      </p:sp>
      <p:sp>
        <p:nvSpPr>
          <p:cNvPr id="3" name="TextBox 2"/>
          <p:cNvSpPr txBox="1"/>
          <p:nvPr/>
        </p:nvSpPr>
        <p:spPr>
          <a:xfrm>
            <a:off x="822960" y="2377440"/>
            <a:ext cx="731520" cy="731520"/>
          </a:xfrm>
          <a:prstGeom prst="rect">
            <a:avLst/>
          </a:prstGeom>
          <a:noFill/>
        </p:spPr>
        <p:txBody>
          <a:bodyPr wrap="square" lIns="0" tIns="0" rIns="0" bIns="0" anchor="ctr">
            <a:spAutoFit/>
          </a:bodyPr>
          <a:lstStyle/>
          <a:p>
            <a:pPr algn="l"/>
            <a:r>
              <a:rPr sz="3200" b="1" i="0">
                <a:solidFill>
                  <a:srgbClr val="F2B48C"/>
                </a:solidFill>
                <a:latin typeface="Arial"/>
              </a:rPr>
              <a:t>1</a:t>
            </a:r>
          </a:p>
        </p:txBody>
      </p:sp>
      <p:sp>
        <p:nvSpPr>
          <p:cNvPr id="4" name="TextBox 3"/>
          <p:cNvSpPr txBox="1"/>
          <p:nvPr/>
        </p:nvSpPr>
        <p:spPr>
          <a:xfrm>
            <a:off x="1645920" y="2377440"/>
            <a:ext cx="9601200" cy="731520"/>
          </a:xfrm>
          <a:prstGeom prst="rect">
            <a:avLst/>
          </a:prstGeom>
          <a:noFill/>
        </p:spPr>
        <p:txBody>
          <a:bodyPr wrap="square" lIns="0" tIns="0" rIns="0" bIns="0" anchor="ctr">
            <a:spAutoFit/>
          </a:bodyPr>
          <a:lstStyle/>
          <a:p>
            <a:pPr algn="l"/>
            <a:r>
              <a:rPr sz="2800" b="0" i="0">
                <a:solidFill>
                  <a:srgbClr val="FFFFFF"/>
                </a:solidFill>
                <a:latin typeface="Arial"/>
              </a:rPr>
              <a:t>Weight members by performance</a:t>
            </a:r>
          </a:p>
        </p:txBody>
      </p:sp>
      <p:sp>
        <p:nvSpPr>
          <p:cNvPr id="5" name="TextBox 4"/>
          <p:cNvSpPr txBox="1"/>
          <p:nvPr/>
        </p:nvSpPr>
        <p:spPr>
          <a:xfrm>
            <a:off x="822960" y="3520440"/>
            <a:ext cx="731520" cy="731520"/>
          </a:xfrm>
          <a:prstGeom prst="rect">
            <a:avLst/>
          </a:prstGeom>
          <a:noFill/>
        </p:spPr>
        <p:txBody>
          <a:bodyPr wrap="square" lIns="0" tIns="0" rIns="0" bIns="0" anchor="ctr">
            <a:spAutoFit/>
          </a:bodyPr>
          <a:lstStyle/>
          <a:p>
            <a:pPr algn="l"/>
            <a:r>
              <a:rPr sz="3200" b="1" i="0">
                <a:solidFill>
                  <a:srgbClr val="F2B48C"/>
                </a:solidFill>
                <a:latin typeface="Arial"/>
              </a:rPr>
              <a:t>2</a:t>
            </a:r>
          </a:p>
        </p:txBody>
      </p:sp>
      <p:sp>
        <p:nvSpPr>
          <p:cNvPr id="6" name="TextBox 5"/>
          <p:cNvSpPr txBox="1"/>
          <p:nvPr/>
        </p:nvSpPr>
        <p:spPr>
          <a:xfrm>
            <a:off x="1645920" y="3520440"/>
            <a:ext cx="9601200" cy="731520"/>
          </a:xfrm>
          <a:prstGeom prst="rect">
            <a:avLst/>
          </a:prstGeom>
          <a:noFill/>
        </p:spPr>
        <p:txBody>
          <a:bodyPr wrap="square" lIns="0" tIns="0" rIns="0" bIns="0" anchor="ctr">
            <a:spAutoFit/>
          </a:bodyPr>
          <a:lstStyle/>
          <a:p>
            <a:pPr algn="l"/>
            <a:r>
              <a:rPr sz="2800" b="0" i="0">
                <a:solidFill>
                  <a:srgbClr val="FFFFFF"/>
                </a:solidFill>
                <a:latin typeface="Arial"/>
              </a:rPr>
              <a:t>Learns from streaming data; SVMs retrain</a:t>
            </a:r>
          </a:p>
        </p:txBody>
      </p:sp>
      <p:sp>
        <p:nvSpPr>
          <p:cNvPr id="7" name="TextBox 6"/>
          <p:cNvSpPr txBox="1"/>
          <p:nvPr/>
        </p:nvSpPr>
        <p:spPr>
          <a:xfrm>
            <a:off x="822960" y="4663440"/>
            <a:ext cx="731520" cy="731520"/>
          </a:xfrm>
          <a:prstGeom prst="rect">
            <a:avLst/>
          </a:prstGeom>
          <a:noFill/>
        </p:spPr>
        <p:txBody>
          <a:bodyPr wrap="square" lIns="0" tIns="0" rIns="0" bIns="0" anchor="ctr">
            <a:spAutoFit/>
          </a:bodyPr>
          <a:lstStyle/>
          <a:p>
            <a:pPr algn="l"/>
            <a:r>
              <a:rPr sz="3200" b="1" i="0">
                <a:solidFill>
                  <a:srgbClr val="F2B48C"/>
                </a:solidFill>
                <a:latin typeface="Arial"/>
              </a:rPr>
              <a:t>3</a:t>
            </a:r>
          </a:p>
        </p:txBody>
      </p:sp>
      <p:sp>
        <p:nvSpPr>
          <p:cNvPr id="8" name="TextBox 7"/>
          <p:cNvSpPr txBox="1"/>
          <p:nvPr/>
        </p:nvSpPr>
        <p:spPr>
          <a:xfrm>
            <a:off x="1645920" y="4663440"/>
            <a:ext cx="9601200" cy="731520"/>
          </a:xfrm>
          <a:prstGeom prst="rect">
            <a:avLst/>
          </a:prstGeom>
          <a:noFill/>
        </p:spPr>
        <p:txBody>
          <a:bodyPr wrap="square" lIns="0" tIns="0" rIns="0" bIns="0" anchor="ctr">
            <a:spAutoFit/>
          </a:bodyPr>
          <a:lstStyle/>
          <a:p>
            <a:pPr algn="l"/>
            <a:r>
              <a:rPr sz="2800" b="0" i="0">
                <a:solidFill>
                  <a:srgbClr val="FFFFFF"/>
                </a:solidFill>
                <a:latin typeface="Arial"/>
              </a:rPr>
              <a:t>Ensembles of weak learners help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3423</Words>
  <Application>Microsoft Macintosh PowerPoint</Application>
  <PresentationFormat>Widescreen</PresentationFormat>
  <Paragraphs>375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Chen, Andrew</cp:lastModifiedBy>
  <cp:revision>2</cp:revision>
  <dcterms:created xsi:type="dcterms:W3CDTF">2013-01-27T09:14:16Z</dcterms:created>
  <dcterms:modified xsi:type="dcterms:W3CDTF">2026-10-06T22:24:34Z</dcterms:modified>
  <cp:category/>
</cp:coreProperties>
</file>